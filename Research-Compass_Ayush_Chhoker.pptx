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researchcompassgnn-eu79pkqkj4ywp5aetcjlcx.streamlit.app/" TargetMode="External"/><Relationship Id="rId1" Type="http://schemas.openxmlformats.org/officeDocument/2006/relationships/image" Target="../media/image-12-1.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7848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Research Compass</a:t>
            </a:r>
            <a:endParaRPr lang="en-US" sz="4450" dirty="0"/>
          </a:p>
        </p:txBody>
      </p:sp>
      <p:sp>
        <p:nvSpPr>
          <p:cNvPr id="4" name="Text 1"/>
          <p:cNvSpPr/>
          <p:nvPr/>
        </p:nvSpPr>
        <p:spPr>
          <a:xfrm>
            <a:off x="793790" y="2977991"/>
            <a:ext cx="7556421" cy="1133951"/>
          </a:xfrm>
          <a:prstGeom prst="rect">
            <a:avLst/>
          </a:prstGeom>
          <a:noFill/>
          <a:ln/>
        </p:spPr>
        <p:txBody>
          <a:bodyPr wrap="square" lIns="0" tIns="0" rIns="0" bIns="0" rtlCol="0" anchor="t"/>
          <a:lstStyle/>
          <a:p>
            <a:pPr algn="l" indent="0" marL="0">
              <a:lnSpc>
                <a:spcPts val="4450"/>
              </a:lnSpc>
              <a:buNone/>
            </a:pPr>
            <a:r>
              <a:rPr lang="en-US" sz="3550" dirty="0">
                <a:solidFill>
                  <a:srgbClr val="3A3A3A"/>
                </a:solidFill>
                <a:latin typeface="Noto Serif Medium" pitchFamily="34" charset="0"/>
                <a:ea typeface="Noto Serif Medium" pitchFamily="34" charset="-122"/>
                <a:cs typeface="Noto Serif Medium" pitchFamily="34" charset="-120"/>
              </a:rPr>
              <a:t>Graph Neural Network System for Research Paper Classification</a:t>
            </a:r>
            <a:endParaRPr lang="en-US" sz="3550" dirty="0"/>
          </a:p>
        </p:txBody>
      </p:sp>
      <p:sp>
        <p:nvSpPr>
          <p:cNvPr id="5" name="Text 2"/>
          <p:cNvSpPr/>
          <p:nvPr/>
        </p:nvSpPr>
        <p:spPr>
          <a:xfrm>
            <a:off x="793790" y="4452104"/>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BY: AYUSH CHHOKER</a:t>
            </a:r>
            <a:endParaRPr lang="en-US" sz="1750" dirty="0"/>
          </a:p>
        </p:txBody>
      </p:sp>
      <p:sp>
        <p:nvSpPr>
          <p:cNvPr id="6" name="Text 3"/>
          <p:cNvSpPr/>
          <p:nvPr/>
        </p:nvSpPr>
        <p:spPr>
          <a:xfrm>
            <a:off x="793790" y="5070158"/>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To: Dr. Amir Manzour</a:t>
            </a:r>
            <a:endParaRPr lang="en-US" sz="1750" dirty="0"/>
          </a:p>
        </p:txBody>
      </p:sp>
      <p:sp>
        <p:nvSpPr>
          <p:cNvPr id="7" name="Text 4"/>
          <p:cNvSpPr/>
          <p:nvPr/>
        </p:nvSpPr>
        <p:spPr>
          <a:xfrm>
            <a:off x="793790" y="5688211"/>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CS 548 - Graph Neural Networks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78675"/>
            <a:ext cx="5976580"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Problem and Solution</a:t>
            </a:r>
            <a:endParaRPr lang="en-US" sz="4450" dirty="0"/>
          </a:p>
        </p:txBody>
      </p:sp>
      <p:sp>
        <p:nvSpPr>
          <p:cNvPr id="3" name="Text 1"/>
          <p:cNvSpPr/>
          <p:nvPr/>
        </p:nvSpPr>
        <p:spPr>
          <a:xfrm>
            <a:off x="793790" y="305442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The Challenge</a:t>
            </a:r>
            <a:endParaRPr lang="en-US" sz="2650" dirty="0"/>
          </a:p>
        </p:txBody>
      </p:sp>
      <p:sp>
        <p:nvSpPr>
          <p:cNvPr id="4" name="Text 2"/>
          <p:cNvSpPr/>
          <p:nvPr/>
        </p:nvSpPr>
        <p:spPr>
          <a:xfrm>
            <a:off x="793790" y="3706535"/>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Keeping up with research is overwhelming. Thousands of papers get published every week, and traditional keyword searches miss the bigger picture - they ignore how papers connect through citations and collaborations.</a:t>
            </a:r>
            <a:endParaRPr lang="en-US" sz="1750" dirty="0"/>
          </a:p>
        </p:txBody>
      </p:sp>
      <p:sp>
        <p:nvSpPr>
          <p:cNvPr id="5" name="Text 3"/>
          <p:cNvSpPr/>
          <p:nvPr/>
        </p:nvSpPr>
        <p:spPr>
          <a:xfrm>
            <a:off x="7599521" y="305442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What I Built</a:t>
            </a:r>
            <a:endParaRPr lang="en-US" sz="2650" dirty="0"/>
          </a:p>
        </p:txBody>
      </p:sp>
      <p:sp>
        <p:nvSpPr>
          <p:cNvPr id="6" name="Text 4"/>
          <p:cNvSpPr/>
          <p:nvPr/>
        </p:nvSpPr>
        <p:spPr>
          <a:xfrm>
            <a:off x="7599521" y="3706535"/>
            <a:ext cx="6244709" cy="2540318"/>
          </a:xfrm>
          <a:prstGeom prst="rect">
            <a:avLst/>
          </a:prstGeom>
          <a:noFill/>
          <a:ln/>
        </p:spPr>
        <p:txBody>
          <a:bodyPr wrap="square" lIns="0" tIns="0" rIns="0" bIns="0" rtlCol="0" anchor="t"/>
          <a:lstStyle/>
          <a:p>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Research Compass uses Graph Neural Networks to classify papers by learning from citation patterns. Upload a PDF, and the system predicts its research area using three different GNN architectures. The entire pipeline runs live on Streamlit, and you can trace exactly which papers influenced each prediction. This project started as coursework but became something I actually want to use.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28782"/>
            <a:ext cx="7782878" cy="602456"/>
          </a:xfrm>
          <a:prstGeom prst="rect">
            <a:avLst/>
          </a:prstGeom>
          <a:noFill/>
          <a:ln/>
        </p:spPr>
        <p:txBody>
          <a:bodyPr wrap="none" lIns="0" tIns="0" rIns="0" bIns="0" rtlCol="0" anchor="t"/>
          <a:lstStyle/>
          <a:p>
            <a:pPr algn="l" indent="0" marL="0">
              <a:lnSpc>
                <a:spcPts val="4700"/>
              </a:lnSpc>
              <a:buNone/>
            </a:pPr>
            <a:r>
              <a:rPr lang="en-US" sz="3750" dirty="0">
                <a:solidFill>
                  <a:srgbClr val="3A3A3A"/>
                </a:solidFill>
                <a:latin typeface="Noto Serif Medium" pitchFamily="34" charset="0"/>
                <a:ea typeface="Noto Serif Medium" pitchFamily="34" charset="-122"/>
                <a:cs typeface="Noto Serif Medium" pitchFamily="34" charset="-120"/>
              </a:rPr>
              <a:t>System Architecture and Pipeline</a:t>
            </a:r>
            <a:endParaRPr lang="en-US" sz="3750" dirty="0"/>
          </a:p>
        </p:txBody>
      </p:sp>
      <p:pic>
        <p:nvPicPr>
          <p:cNvPr id="3" name="Image 0" descr="preencoded.png">    </p:cNvPr>
          <p:cNvPicPr>
            <a:picLocks noChangeAspect="1"/>
          </p:cNvPicPr>
          <p:nvPr/>
        </p:nvPicPr>
        <p:blipFill>
          <a:blip r:embed="rId1"/>
          <a:stretch>
            <a:fillRect/>
          </a:stretch>
        </p:blipFill>
        <p:spPr>
          <a:xfrm>
            <a:off x="793790" y="1716762"/>
            <a:ext cx="963930" cy="1156811"/>
          </a:xfrm>
          <a:prstGeom prst="rect">
            <a:avLst/>
          </a:prstGeom>
        </p:spPr>
      </p:pic>
      <p:sp>
        <p:nvSpPr>
          <p:cNvPr id="4" name="Text 1"/>
          <p:cNvSpPr/>
          <p:nvPr/>
        </p:nvSpPr>
        <p:spPr>
          <a:xfrm>
            <a:off x="1950482" y="1909524"/>
            <a:ext cx="7338417" cy="301228"/>
          </a:xfrm>
          <a:prstGeom prst="rect">
            <a:avLst/>
          </a:prstGeom>
          <a:noFill/>
          <a:ln/>
        </p:spPr>
        <p:txBody>
          <a:bodyPr wrap="none" lIns="0" tIns="0" rIns="0" bIns="0" rtlCol="0" anchor="t"/>
          <a:lstStyle/>
          <a:p>
            <a:pPr algn="l" indent="0" marL="0">
              <a:lnSpc>
                <a:spcPts val="2350"/>
              </a:lnSpc>
              <a:buNone/>
            </a:pPr>
            <a:r>
              <a:rPr lang="en-US" sz="1850" dirty="0">
                <a:solidFill>
                  <a:srgbClr val="4C4C4C"/>
                </a:solidFill>
                <a:latin typeface="Noto Serif Medium" pitchFamily="34" charset="0"/>
                <a:ea typeface="Noto Serif Medium" pitchFamily="34" charset="-122"/>
                <a:cs typeface="Noto Serif Medium" pitchFamily="34" charset="-120"/>
              </a:rPr>
              <a:t>Upload a PDF or paste text through the Streamlit web interface</a:t>
            </a:r>
            <a:endParaRPr lang="en-US" sz="1850" dirty="0"/>
          </a:p>
        </p:txBody>
      </p:sp>
      <p:pic>
        <p:nvPicPr>
          <p:cNvPr id="5" name="Image 1" descr="preencoded.png">    </p:cNvPr>
          <p:cNvPicPr>
            <a:picLocks noChangeAspect="1"/>
          </p:cNvPicPr>
          <p:nvPr/>
        </p:nvPicPr>
        <p:blipFill>
          <a:blip r:embed="rId2"/>
          <a:stretch>
            <a:fillRect/>
          </a:stretch>
        </p:blipFill>
        <p:spPr>
          <a:xfrm>
            <a:off x="793790" y="2873573"/>
            <a:ext cx="963930" cy="1156811"/>
          </a:xfrm>
          <a:prstGeom prst="rect">
            <a:avLst/>
          </a:prstGeom>
        </p:spPr>
      </p:pic>
      <p:sp>
        <p:nvSpPr>
          <p:cNvPr id="6" name="Text 2"/>
          <p:cNvSpPr/>
          <p:nvPr/>
        </p:nvSpPr>
        <p:spPr>
          <a:xfrm>
            <a:off x="1950482" y="3066336"/>
            <a:ext cx="8792289" cy="301228"/>
          </a:xfrm>
          <a:prstGeom prst="rect">
            <a:avLst/>
          </a:prstGeom>
          <a:noFill/>
          <a:ln/>
        </p:spPr>
        <p:txBody>
          <a:bodyPr wrap="none" lIns="0" tIns="0" rIns="0" bIns="0" rtlCol="0" anchor="t"/>
          <a:lstStyle/>
          <a:p>
            <a:pPr algn="l" indent="0" marL="0">
              <a:lnSpc>
                <a:spcPts val="2350"/>
              </a:lnSpc>
              <a:buNone/>
            </a:pPr>
            <a:r>
              <a:rPr lang="en-US" sz="1850" dirty="0">
                <a:solidFill>
                  <a:srgbClr val="4C4C4C"/>
                </a:solidFill>
                <a:latin typeface="Noto Serif Medium" pitchFamily="34" charset="0"/>
                <a:ea typeface="Noto Serif Medium" pitchFamily="34" charset="-122"/>
                <a:cs typeface="Noto Serif Medium" pitchFamily="34" charset="-120"/>
              </a:rPr>
              <a:t>Extract text and convert it to numerical features using TF-IDF vectorization</a:t>
            </a:r>
            <a:endParaRPr lang="en-US" sz="1850" dirty="0"/>
          </a:p>
        </p:txBody>
      </p:sp>
      <p:pic>
        <p:nvPicPr>
          <p:cNvPr id="7" name="Image 2" descr="preencoded.png">    </p:cNvPr>
          <p:cNvPicPr>
            <a:picLocks noChangeAspect="1"/>
          </p:cNvPicPr>
          <p:nvPr/>
        </p:nvPicPr>
        <p:blipFill>
          <a:blip r:embed="rId3"/>
          <a:stretch>
            <a:fillRect/>
          </a:stretch>
        </p:blipFill>
        <p:spPr>
          <a:xfrm>
            <a:off x="793790" y="4030385"/>
            <a:ext cx="963930" cy="1156811"/>
          </a:xfrm>
          <a:prstGeom prst="rect">
            <a:avLst/>
          </a:prstGeom>
        </p:spPr>
      </p:pic>
      <p:sp>
        <p:nvSpPr>
          <p:cNvPr id="8" name="Text 3"/>
          <p:cNvSpPr/>
          <p:nvPr/>
        </p:nvSpPr>
        <p:spPr>
          <a:xfrm>
            <a:off x="1950482" y="4223147"/>
            <a:ext cx="11886128" cy="602456"/>
          </a:xfrm>
          <a:prstGeom prst="rect">
            <a:avLst/>
          </a:prstGeom>
          <a:noFill/>
          <a:ln/>
        </p:spPr>
        <p:txBody>
          <a:bodyPr wrap="square" lIns="0" tIns="0" rIns="0" bIns="0" rtlCol="0" anchor="t"/>
          <a:lstStyle/>
          <a:p>
            <a:pPr algn="l" indent="0" marL="0">
              <a:lnSpc>
                <a:spcPts val="2350"/>
              </a:lnSpc>
              <a:buNone/>
            </a:pPr>
            <a:r>
              <a:rPr lang="en-US" sz="1850" dirty="0">
                <a:solidFill>
                  <a:srgbClr val="4C4C4C"/>
                </a:solidFill>
                <a:latin typeface="Noto Serif Medium" pitchFamily="34" charset="0"/>
                <a:ea typeface="Noto Serif Medium" pitchFamily="34" charset="-122"/>
                <a:cs typeface="Noto Serif Medium" pitchFamily="34" charset="-120"/>
              </a:rPr>
              <a:t>Find the 10 most similar papers from the training dataset using K-nearest neighbors. This creates a local subgraph around your input paper.</a:t>
            </a:r>
            <a:endParaRPr lang="en-US" sz="1850" dirty="0"/>
          </a:p>
        </p:txBody>
      </p:sp>
      <p:pic>
        <p:nvPicPr>
          <p:cNvPr id="9" name="Image 3" descr="preencoded.png">    </p:cNvPr>
          <p:cNvPicPr>
            <a:picLocks noChangeAspect="1"/>
          </p:cNvPicPr>
          <p:nvPr/>
        </p:nvPicPr>
        <p:blipFill>
          <a:blip r:embed="rId4"/>
          <a:stretch>
            <a:fillRect/>
          </a:stretch>
        </p:blipFill>
        <p:spPr>
          <a:xfrm>
            <a:off x="793790" y="5187196"/>
            <a:ext cx="963930" cy="1156811"/>
          </a:xfrm>
          <a:prstGeom prst="rect">
            <a:avLst/>
          </a:prstGeom>
        </p:spPr>
      </p:pic>
      <p:sp>
        <p:nvSpPr>
          <p:cNvPr id="10" name="Text 4"/>
          <p:cNvSpPr/>
          <p:nvPr/>
        </p:nvSpPr>
        <p:spPr>
          <a:xfrm>
            <a:off x="1950482" y="5379958"/>
            <a:ext cx="11698248" cy="301228"/>
          </a:xfrm>
          <a:prstGeom prst="rect">
            <a:avLst/>
          </a:prstGeom>
          <a:noFill/>
          <a:ln/>
        </p:spPr>
        <p:txBody>
          <a:bodyPr wrap="none" lIns="0" tIns="0" rIns="0" bIns="0" rtlCol="0" anchor="t"/>
          <a:lstStyle/>
          <a:p>
            <a:pPr algn="l" indent="0" marL="0">
              <a:lnSpc>
                <a:spcPts val="2350"/>
              </a:lnSpc>
              <a:buNone/>
            </a:pPr>
            <a:r>
              <a:rPr lang="en-US" sz="1850" dirty="0">
                <a:solidFill>
                  <a:srgbClr val="4C4C4C"/>
                </a:solidFill>
                <a:latin typeface="Noto Serif Medium" pitchFamily="34" charset="0"/>
                <a:ea typeface="Noto Serif Medium" pitchFamily="34" charset="-122"/>
                <a:cs typeface="Noto Serif Medium" pitchFamily="34" charset="-120"/>
              </a:rPr>
              <a:t>Run one of three models (GAT, GCN, or GraphSAGE) to predict the topic based on the graph structure</a:t>
            </a:r>
            <a:endParaRPr lang="en-US" sz="1850" dirty="0"/>
          </a:p>
        </p:txBody>
      </p:sp>
      <p:pic>
        <p:nvPicPr>
          <p:cNvPr id="11" name="Image 4" descr="preencoded.png">    </p:cNvPr>
          <p:cNvPicPr>
            <a:picLocks noChangeAspect="1"/>
          </p:cNvPicPr>
          <p:nvPr/>
        </p:nvPicPr>
        <p:blipFill>
          <a:blip r:embed="rId5"/>
          <a:stretch>
            <a:fillRect/>
          </a:stretch>
        </p:blipFill>
        <p:spPr>
          <a:xfrm>
            <a:off x="793790" y="6344007"/>
            <a:ext cx="963930" cy="1156811"/>
          </a:xfrm>
          <a:prstGeom prst="rect">
            <a:avLst/>
          </a:prstGeom>
        </p:spPr>
      </p:pic>
      <p:sp>
        <p:nvSpPr>
          <p:cNvPr id="12" name="Text 5"/>
          <p:cNvSpPr/>
          <p:nvPr/>
        </p:nvSpPr>
        <p:spPr>
          <a:xfrm>
            <a:off x="1950482" y="6536769"/>
            <a:ext cx="11886128" cy="602456"/>
          </a:xfrm>
          <a:prstGeom prst="rect">
            <a:avLst/>
          </a:prstGeom>
          <a:noFill/>
          <a:ln/>
        </p:spPr>
        <p:txBody>
          <a:bodyPr wrap="square" lIns="0" tIns="0" rIns="0" bIns="0" rtlCol="0" anchor="t"/>
          <a:lstStyle/>
          <a:p>
            <a:pPr algn="l" indent="0" marL="0">
              <a:lnSpc>
                <a:spcPts val="2350"/>
              </a:lnSpc>
              <a:buNone/>
            </a:pPr>
            <a:r>
              <a:rPr lang="en-US" sz="1850" dirty="0">
                <a:solidFill>
                  <a:srgbClr val="4C4C4C"/>
                </a:solidFill>
                <a:latin typeface="Noto Serif Medium" pitchFamily="34" charset="0"/>
                <a:ea typeface="Noto Serif Medium" pitchFamily="34" charset="-122"/>
                <a:cs typeface="Noto Serif Medium" pitchFamily="34" charset="-120"/>
              </a:rPr>
              <a:t>Display top-5 predictions with confidence scores and show the interactive citation network that influenced the decision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05947"/>
            <a:ext cx="13042821" cy="1346835"/>
          </a:xfrm>
          <a:prstGeom prst="rect">
            <a:avLst/>
          </a:prstGeom>
          <a:noFill/>
          <a:ln/>
        </p:spPr>
        <p:txBody>
          <a:bodyPr wrap="square" lIns="0" tIns="0" rIns="0" bIns="0" rtlCol="0" anchor="t"/>
          <a:lstStyle/>
          <a:p>
            <a:pPr algn="l" indent="0" marL="0">
              <a:lnSpc>
                <a:spcPts val="5300"/>
              </a:lnSpc>
              <a:buNone/>
            </a:pPr>
            <a:r>
              <a:rPr lang="en-US" sz="4200" dirty="0">
                <a:solidFill>
                  <a:srgbClr val="3A3A3A"/>
                </a:solidFill>
                <a:latin typeface="Noto Serif Medium" pitchFamily="34" charset="0"/>
                <a:ea typeface="Noto Serif Medium" pitchFamily="34" charset="-122"/>
                <a:cs typeface="Noto Serif Medium" pitchFamily="34" charset="-120"/>
              </a:rPr>
              <a:t>Why Two Datasets? Testing GNNs Across Different Graph Structures</a:t>
            </a:r>
            <a:endParaRPr lang="en-US" sz="4200" dirty="0"/>
          </a:p>
        </p:txBody>
      </p:sp>
      <p:sp>
        <p:nvSpPr>
          <p:cNvPr id="3" name="Text 1"/>
          <p:cNvSpPr/>
          <p:nvPr/>
        </p:nvSpPr>
        <p:spPr>
          <a:xfrm>
            <a:off x="793790" y="2338864"/>
            <a:ext cx="4309705" cy="538758"/>
          </a:xfrm>
          <a:prstGeom prst="rect">
            <a:avLst/>
          </a:prstGeom>
          <a:noFill/>
          <a:ln/>
        </p:spPr>
        <p:txBody>
          <a:bodyPr wrap="none" lIns="0" tIns="0" rIns="0" bIns="0" rtlCol="0" anchor="t"/>
          <a:lstStyle/>
          <a:p>
            <a:pPr algn="l" indent="0" marL="0">
              <a:lnSpc>
                <a:spcPts val="4200"/>
              </a:lnSpc>
              <a:buNone/>
            </a:pPr>
            <a:r>
              <a:rPr lang="en-US" sz="3350" dirty="0">
                <a:solidFill>
                  <a:srgbClr val="3A3A3A"/>
                </a:solidFill>
                <a:latin typeface="Noto Serif Medium" pitchFamily="34" charset="0"/>
                <a:ea typeface="Noto Serif Medium" pitchFamily="34" charset="-122"/>
                <a:cs typeface="Noto Serif Medium" pitchFamily="34" charset="-120"/>
              </a:rPr>
              <a:t>Dataset Comparison</a:t>
            </a:r>
            <a:endParaRPr lang="en-US" sz="3350" dirty="0"/>
          </a:p>
        </p:txBody>
      </p:sp>
      <p:sp>
        <p:nvSpPr>
          <p:cNvPr id="4" name="Text 2"/>
          <p:cNvSpPr/>
          <p:nvPr/>
        </p:nvSpPr>
        <p:spPr>
          <a:xfrm>
            <a:off x="793790" y="3416141"/>
            <a:ext cx="4585692" cy="403979"/>
          </a:xfrm>
          <a:prstGeom prst="rect">
            <a:avLst/>
          </a:prstGeom>
          <a:noFill/>
          <a:ln/>
        </p:spPr>
        <p:txBody>
          <a:bodyPr wrap="none" lIns="0" tIns="0" rIns="0" bIns="0" rtlCol="0" anchor="t"/>
          <a:lstStyle/>
          <a:p>
            <a:pPr algn="l" indent="0" marL="0">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OGB arXiv - Citation Network</a:t>
            </a:r>
            <a:endParaRPr lang="en-US" sz="2500" dirty="0"/>
          </a:p>
        </p:txBody>
      </p:sp>
      <p:sp>
        <p:nvSpPr>
          <p:cNvPr id="5" name="Text 3"/>
          <p:cNvSpPr/>
          <p:nvPr/>
        </p:nvSpPr>
        <p:spPr>
          <a:xfrm>
            <a:off x="793790" y="4035504"/>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169,343 papers | 40 categories</a:t>
            </a:r>
            <a:endParaRPr lang="en-US" sz="1650" dirty="0"/>
          </a:p>
        </p:txBody>
      </p:sp>
      <p:sp>
        <p:nvSpPr>
          <p:cNvPr id="6" name="Text 4"/>
          <p:cNvSpPr/>
          <p:nvPr/>
        </p:nvSpPr>
        <p:spPr>
          <a:xfrm>
            <a:off x="793790" y="4574143"/>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1.16M citation edges</a:t>
            </a:r>
            <a:endParaRPr lang="en-US" sz="1650" dirty="0"/>
          </a:p>
        </p:txBody>
      </p:sp>
      <p:sp>
        <p:nvSpPr>
          <p:cNvPr id="7" name="Text 5"/>
          <p:cNvSpPr/>
          <p:nvPr/>
        </p:nvSpPr>
        <p:spPr>
          <a:xfrm>
            <a:off x="793790" y="5112782"/>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Papers → Papers (directed)</a:t>
            </a:r>
            <a:endParaRPr lang="en-US" sz="1650" dirty="0"/>
          </a:p>
        </p:txBody>
      </p:sp>
      <p:sp>
        <p:nvSpPr>
          <p:cNvPr id="8" name="Text 6"/>
          <p:cNvSpPr/>
          <p:nvPr/>
        </p:nvSpPr>
        <p:spPr>
          <a:xfrm>
            <a:off x="793790" y="5651421"/>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Clean, balanced data</a:t>
            </a:r>
            <a:endParaRPr lang="en-US" sz="1650" dirty="0"/>
          </a:p>
        </p:txBody>
      </p:sp>
      <p:sp>
        <p:nvSpPr>
          <p:cNvPr id="9" name="Text 7"/>
          <p:cNvSpPr/>
          <p:nvPr/>
        </p:nvSpPr>
        <p:spPr>
          <a:xfrm>
            <a:off x="793790" y="6190059"/>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Dense network (7 cites/paper)</a:t>
            </a:r>
            <a:endParaRPr lang="en-US" sz="1650" dirty="0"/>
          </a:p>
        </p:txBody>
      </p:sp>
      <p:sp>
        <p:nvSpPr>
          <p:cNvPr id="10" name="Text 8"/>
          <p:cNvSpPr/>
          <p:nvPr/>
        </p:nvSpPr>
        <p:spPr>
          <a:xfrm>
            <a:off x="7585710" y="3416141"/>
            <a:ext cx="5037415" cy="403979"/>
          </a:xfrm>
          <a:prstGeom prst="rect">
            <a:avLst/>
          </a:prstGeom>
          <a:noFill/>
          <a:ln/>
        </p:spPr>
        <p:txBody>
          <a:bodyPr wrap="none" lIns="0" tIns="0" rIns="0" bIns="0" rtlCol="0" anchor="t"/>
          <a:lstStyle/>
          <a:p>
            <a:pPr algn="l" indent="0" marL="0">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AMiner - Collaboration Network</a:t>
            </a:r>
            <a:endParaRPr lang="en-US" sz="2500" dirty="0"/>
          </a:p>
        </p:txBody>
      </p:sp>
      <p:sp>
        <p:nvSpPr>
          <p:cNvPr id="11" name="Text 9"/>
          <p:cNvSpPr/>
          <p:nvPr/>
        </p:nvSpPr>
        <p:spPr>
          <a:xfrm>
            <a:off x="7585710" y="4035504"/>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10,000 authors | 8 fields</a:t>
            </a:r>
            <a:endParaRPr lang="en-US" sz="1650" dirty="0"/>
          </a:p>
        </p:txBody>
      </p:sp>
      <p:sp>
        <p:nvSpPr>
          <p:cNvPr id="12" name="Text 10"/>
          <p:cNvSpPr/>
          <p:nvPr/>
        </p:nvSpPr>
        <p:spPr>
          <a:xfrm>
            <a:off x="7585710" y="4574143"/>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120K collaboration edges</a:t>
            </a:r>
            <a:endParaRPr lang="en-US" sz="1650" dirty="0"/>
          </a:p>
        </p:txBody>
      </p:sp>
      <p:sp>
        <p:nvSpPr>
          <p:cNvPr id="13" name="Text 11"/>
          <p:cNvSpPr/>
          <p:nvPr/>
        </p:nvSpPr>
        <p:spPr>
          <a:xfrm>
            <a:off x="7585710" y="5112782"/>
            <a:ext cx="6258520" cy="35242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Authors </a:t>
            </a:r>
            <a:pPr algn="l" indent="0" marL="0">
              <a:lnSpc>
                <a:spcPts val="2700"/>
              </a:lnSpc>
              <a:buNone/>
            </a:pPr>
            <a:r>
              <a:rPr lang="en-US" sz="1650" dirty="0">
                <a:solidFill>
                  <a:srgbClr val="000000"/>
                </a:solidFill>
                <a:latin typeface="Noto Serif" pitchFamily="34" charset="0"/>
                <a:ea typeface="Noto Serif" pitchFamily="34" charset="-122"/>
                <a:cs typeface="Noto Serif" pitchFamily="34" charset="-120"/>
              </a:rPr>
              <a:t>↔</a:t>
            </a:r>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 Authors (undirected)</a:t>
            </a:r>
            <a:endParaRPr lang="en-US" sz="1650" dirty="0"/>
          </a:p>
        </p:txBody>
      </p:sp>
      <p:sp>
        <p:nvSpPr>
          <p:cNvPr id="14" name="Text 12"/>
          <p:cNvSpPr/>
          <p:nvPr/>
        </p:nvSpPr>
        <p:spPr>
          <a:xfrm>
            <a:off x="7585710" y="5659041"/>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Real-world, imbalanced data</a:t>
            </a:r>
            <a:endParaRPr lang="en-US" sz="1650" dirty="0"/>
          </a:p>
        </p:txBody>
      </p:sp>
      <p:sp>
        <p:nvSpPr>
          <p:cNvPr id="15" name="Text 13"/>
          <p:cNvSpPr/>
          <p:nvPr/>
        </p:nvSpPr>
        <p:spPr>
          <a:xfrm>
            <a:off x="7585710" y="6197679"/>
            <a:ext cx="6258520"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Sparse network (12 collabs/author)</a:t>
            </a:r>
            <a:endParaRPr lang="en-US" sz="1650" dirty="0"/>
          </a:p>
        </p:txBody>
      </p:sp>
      <p:sp>
        <p:nvSpPr>
          <p:cNvPr id="16" name="Text 14"/>
          <p:cNvSpPr/>
          <p:nvPr/>
        </p:nvSpPr>
        <p:spPr>
          <a:xfrm>
            <a:off x="793790" y="6978729"/>
            <a:ext cx="13042821" cy="344805"/>
          </a:xfrm>
          <a:prstGeom prst="rect">
            <a:avLst/>
          </a:prstGeom>
          <a:noFill/>
          <a:ln/>
        </p:spPr>
        <p:txBody>
          <a:bodyPr wrap="none" lIns="0" tIns="0" rIns="0" bIns="0" rtlCol="0" anchor="t"/>
          <a:lstStyle/>
          <a:p>
            <a:pPr algn="l" indent="0" marL="0">
              <a:lnSpc>
                <a:spcPts val="2700"/>
              </a:lnSpc>
              <a:buNone/>
            </a:pPr>
            <a:r>
              <a:rPr lang="en-US" sz="1650" dirty="0">
                <a:solidFill>
                  <a:srgbClr val="4C4C4C"/>
                </a:solidFill>
                <a:latin typeface="Noto Serif" pitchFamily="34" charset="0"/>
                <a:ea typeface="Noto Serif" pitchFamily="34" charset="-122"/>
                <a:cs typeface="Noto Serif" pitchFamily="34" charset="-120"/>
              </a:rPr>
              <a:t>Testing on both reveals which GNN architectures are truly robust across different graph structures and data quality levels.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32473"/>
            <a:ext cx="5284113" cy="425291"/>
          </a:xfrm>
          <a:prstGeom prst="rect">
            <a:avLst/>
          </a:prstGeom>
          <a:noFill/>
          <a:ln/>
        </p:spPr>
        <p:txBody>
          <a:bodyPr wrap="none" lIns="0" tIns="0" rIns="0" bIns="0" rtlCol="0" anchor="t"/>
          <a:lstStyle/>
          <a:p>
            <a:pPr algn="l" indent="0" marL="0">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Why These Two Datasets Matter</a:t>
            </a:r>
            <a:endParaRPr lang="en-US" sz="2650" dirty="0"/>
          </a:p>
        </p:txBody>
      </p:sp>
      <p:sp>
        <p:nvSpPr>
          <p:cNvPr id="3" name="Text 1"/>
          <p:cNvSpPr/>
          <p:nvPr/>
        </p:nvSpPr>
        <p:spPr>
          <a:xfrm>
            <a:off x="1346478" y="1412915"/>
            <a:ext cx="3018949" cy="265747"/>
          </a:xfrm>
          <a:prstGeom prst="rect">
            <a:avLst/>
          </a:prstGeom>
          <a:noFill/>
          <a:ln/>
        </p:spPr>
        <p:txBody>
          <a:bodyPr wrap="none" lIns="0" tIns="0" rIns="0" bIns="0" rtlCol="0" anchor="t"/>
          <a:lstStyle/>
          <a:p>
            <a:pPr algn="l" indent="0" marL="0">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Different Network Structures</a:t>
            </a:r>
            <a:endParaRPr lang="en-US" sz="1650" dirty="0"/>
          </a:p>
        </p:txBody>
      </p:sp>
      <p:sp>
        <p:nvSpPr>
          <p:cNvPr id="4" name="Text 2"/>
          <p:cNvSpPr/>
          <p:nvPr/>
        </p:nvSpPr>
        <p:spPr>
          <a:xfrm>
            <a:off x="1346478" y="1780699"/>
            <a:ext cx="3653076" cy="1088708"/>
          </a:xfrm>
          <a:prstGeom prst="rect">
            <a:avLst/>
          </a:prstGeom>
          <a:noFill/>
          <a:ln/>
        </p:spPr>
        <p:txBody>
          <a:bodyPr wrap="squar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Citations are directed (papers cite older work). Collaborations are undirected (symmetric relationships). GNNs behave very differently on these structures.</a:t>
            </a:r>
            <a:endParaRPr lang="en-US" sz="1300" dirty="0"/>
          </a:p>
        </p:txBody>
      </p:sp>
      <p:sp>
        <p:nvSpPr>
          <p:cNvPr id="5" name="Text 3"/>
          <p:cNvSpPr/>
          <p:nvPr/>
        </p:nvSpPr>
        <p:spPr>
          <a:xfrm>
            <a:off x="5764887" y="1412915"/>
            <a:ext cx="2132290" cy="265747"/>
          </a:xfrm>
          <a:prstGeom prst="rect">
            <a:avLst/>
          </a:prstGeom>
          <a:noFill/>
          <a:ln/>
        </p:spPr>
        <p:txBody>
          <a:bodyPr wrap="none" lIns="0" tIns="0" rIns="0" bIns="0" rtlCol="0" anchor="t"/>
          <a:lstStyle/>
          <a:p>
            <a:pPr algn="l" indent="0" marL="0">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Clean vs. Messy Data</a:t>
            </a:r>
            <a:endParaRPr lang="en-US" sz="1650" dirty="0"/>
          </a:p>
        </p:txBody>
      </p:sp>
      <p:sp>
        <p:nvSpPr>
          <p:cNvPr id="6" name="Text 4"/>
          <p:cNvSpPr/>
          <p:nvPr/>
        </p:nvSpPr>
        <p:spPr>
          <a:xfrm>
            <a:off x="5764887" y="1780699"/>
            <a:ext cx="3653195" cy="1360884"/>
          </a:xfrm>
          <a:prstGeom prst="rect">
            <a:avLst/>
          </a:prstGeom>
          <a:noFill/>
          <a:ln/>
        </p:spPr>
        <p:txBody>
          <a:bodyPr wrap="squar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OGB is a curated benchmark. AMiner represents real-world data with class imbalance, noise, and sparsity. Testing both reveals if models generalize beyond benchmarks.</a:t>
            </a:r>
            <a:endParaRPr lang="en-US" sz="1300" dirty="0"/>
          </a:p>
        </p:txBody>
      </p:sp>
      <p:sp>
        <p:nvSpPr>
          <p:cNvPr id="7" name="Text 5"/>
          <p:cNvSpPr/>
          <p:nvPr/>
        </p:nvSpPr>
        <p:spPr>
          <a:xfrm>
            <a:off x="10183416" y="1412915"/>
            <a:ext cx="2319576" cy="265747"/>
          </a:xfrm>
          <a:prstGeom prst="rect">
            <a:avLst/>
          </a:prstGeom>
          <a:noFill/>
          <a:ln/>
        </p:spPr>
        <p:txBody>
          <a:bodyPr wrap="none" lIns="0" tIns="0" rIns="0" bIns="0" rtlCol="0" anchor="t"/>
          <a:lstStyle/>
          <a:p>
            <a:pPr algn="l" indent="0" marL="0">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Generalization Testing</a:t>
            </a:r>
            <a:endParaRPr lang="en-US" sz="1650" dirty="0"/>
          </a:p>
        </p:txBody>
      </p:sp>
      <p:sp>
        <p:nvSpPr>
          <p:cNvPr id="8" name="Text 6"/>
          <p:cNvSpPr/>
          <p:nvPr/>
        </p:nvSpPr>
        <p:spPr>
          <a:xfrm>
            <a:off x="10183416" y="1780699"/>
            <a:ext cx="3653195" cy="1088708"/>
          </a:xfrm>
          <a:prstGeom prst="rect">
            <a:avLst/>
          </a:prstGeom>
          <a:noFill/>
          <a:ln/>
        </p:spPr>
        <p:txBody>
          <a:bodyPr wrap="squar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If a model only works on one dataset, it's overfitting to that specific graph structure. Testing both reveals which architectures are truly robust.</a:t>
            </a:r>
            <a:endParaRPr lang="en-US" sz="1300" dirty="0"/>
          </a:p>
        </p:txBody>
      </p:sp>
      <p:sp>
        <p:nvSpPr>
          <p:cNvPr id="9" name="Text 7"/>
          <p:cNvSpPr/>
          <p:nvPr/>
        </p:nvSpPr>
        <p:spPr>
          <a:xfrm>
            <a:off x="793790" y="3396734"/>
            <a:ext cx="5037058" cy="531614"/>
          </a:xfrm>
          <a:prstGeom prst="rect">
            <a:avLst/>
          </a:prstGeom>
          <a:noFill/>
          <a:ln/>
        </p:spPr>
        <p:txBody>
          <a:bodyPr wrap="none" lIns="0" tIns="0" rIns="0" bIns="0" rtlCol="0" anchor="t"/>
          <a:lstStyle/>
          <a:p>
            <a:pPr algn="l" indent="0" marL="0">
              <a:lnSpc>
                <a:spcPts val="4150"/>
              </a:lnSpc>
              <a:buNone/>
            </a:pPr>
            <a:r>
              <a:rPr lang="en-US" sz="3300" dirty="0">
                <a:solidFill>
                  <a:srgbClr val="3A3A3A"/>
                </a:solidFill>
                <a:latin typeface="Noto Serif Medium" pitchFamily="34" charset="0"/>
                <a:ea typeface="Noto Serif Medium" pitchFamily="34" charset="-122"/>
                <a:cs typeface="Noto Serif Medium" pitchFamily="34" charset="-120"/>
              </a:rPr>
              <a:t>ML Models and Training</a:t>
            </a:r>
            <a:endParaRPr lang="en-US" sz="3300" dirty="0"/>
          </a:p>
        </p:txBody>
      </p:sp>
      <p:sp>
        <p:nvSpPr>
          <p:cNvPr id="10" name="Text 8"/>
          <p:cNvSpPr/>
          <p:nvPr/>
        </p:nvSpPr>
        <p:spPr>
          <a:xfrm>
            <a:off x="793790" y="4183499"/>
            <a:ext cx="13042821" cy="272177"/>
          </a:xfrm>
          <a:prstGeom prst="rect">
            <a:avLst/>
          </a:prstGeom>
          <a:noFill/>
          <a:ln/>
        </p:spPr>
        <p:txBody>
          <a:bodyPr wrap="non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I tested three different architectures to see which works best:</a:t>
            </a:r>
            <a:endParaRPr lang="en-US" sz="1300" dirty="0"/>
          </a:p>
        </p:txBody>
      </p:sp>
      <p:sp>
        <p:nvSpPr>
          <p:cNvPr id="11" name="Shape 9"/>
          <p:cNvSpPr/>
          <p:nvPr/>
        </p:nvSpPr>
        <p:spPr>
          <a:xfrm>
            <a:off x="793790" y="4647009"/>
            <a:ext cx="4234220" cy="2386608"/>
          </a:xfrm>
          <a:prstGeom prst="roundRect">
            <a:avLst>
              <a:gd name="adj" fmla="val 4598"/>
            </a:avLst>
          </a:prstGeom>
          <a:solidFill>
            <a:srgbClr val="FDFBF7"/>
          </a:solidFill>
          <a:ln w="22860">
            <a:solidFill>
              <a:srgbClr val="E6DED2"/>
            </a:solidFill>
            <a:prstDash val="solid"/>
          </a:ln>
          <a:effectLst>
            <a:outerShdw sx="100000" sy="100000" kx="0" ky="0" algn="bl" rotWithShape="0" blurRad="0" dist="15240" dir="2700000">
              <a:srgbClr val="e6ded2">
                <a:alpha val="100000"/>
              </a:srgbClr>
            </a:outerShdw>
          </a:effectLst>
        </p:spPr>
      </p:sp>
      <p:sp>
        <p:nvSpPr>
          <p:cNvPr id="12" name="Shape 10"/>
          <p:cNvSpPr/>
          <p:nvPr/>
        </p:nvSpPr>
        <p:spPr>
          <a:xfrm>
            <a:off x="770930" y="4647009"/>
            <a:ext cx="91440" cy="2386608"/>
          </a:xfrm>
          <a:prstGeom prst="roundRect">
            <a:avLst>
              <a:gd name="adj" fmla="val 78140"/>
            </a:avLst>
          </a:prstGeom>
          <a:solidFill>
            <a:srgbClr val="E6DED2"/>
          </a:solidFill>
          <a:ln/>
        </p:spPr>
      </p:sp>
      <p:sp>
        <p:nvSpPr>
          <p:cNvPr id="13" name="Text 11"/>
          <p:cNvSpPr/>
          <p:nvPr/>
        </p:nvSpPr>
        <p:spPr>
          <a:xfrm>
            <a:off x="1266111" y="4839891"/>
            <a:ext cx="3358158" cy="265747"/>
          </a:xfrm>
          <a:prstGeom prst="rect">
            <a:avLst/>
          </a:prstGeom>
          <a:noFill/>
          <a:ln/>
        </p:spPr>
        <p:txBody>
          <a:bodyPr wrap="none" lIns="0" tIns="0" rIns="0" bIns="0" rtlCol="0" anchor="t"/>
          <a:lstStyle/>
          <a:p>
            <a:pPr algn="ctr" indent="0" marL="0">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Graph Attention Networks (GAT)</a:t>
            </a:r>
            <a:endParaRPr lang="en-US" sz="1650" dirty="0"/>
          </a:p>
        </p:txBody>
      </p:sp>
      <p:sp>
        <p:nvSpPr>
          <p:cNvPr id="14" name="Text 12"/>
          <p:cNvSpPr/>
          <p:nvPr/>
        </p:nvSpPr>
        <p:spPr>
          <a:xfrm>
            <a:off x="1055251" y="5207675"/>
            <a:ext cx="3779877" cy="1633061"/>
          </a:xfrm>
          <a:prstGeom prst="rect">
            <a:avLst/>
          </a:prstGeom>
          <a:noFill/>
          <a:ln/>
        </p:spPr>
        <p:txBody>
          <a:bodyPr wrap="square" lIns="0" tIns="0" rIns="0" bIns="0" rtlCol="0" anchor="t"/>
          <a:lstStyle/>
          <a:p>
            <a:pPr algn="ctr"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Uses attention mechanisms to weight neighbor importance. I configured it with 4 attention heads, 3 layers, and 128 hidden units for OGB. The idea is that attention should capture complex citation patterns better than simple averaging.</a:t>
            </a:r>
            <a:endParaRPr lang="en-US" sz="1300" dirty="0"/>
          </a:p>
        </p:txBody>
      </p:sp>
      <p:sp>
        <p:nvSpPr>
          <p:cNvPr id="15" name="Shape 13"/>
          <p:cNvSpPr/>
          <p:nvPr/>
        </p:nvSpPr>
        <p:spPr>
          <a:xfrm>
            <a:off x="5198031" y="4647009"/>
            <a:ext cx="4234220" cy="2386608"/>
          </a:xfrm>
          <a:prstGeom prst="roundRect">
            <a:avLst>
              <a:gd name="adj" fmla="val 4598"/>
            </a:avLst>
          </a:prstGeom>
          <a:solidFill>
            <a:srgbClr val="FDFBF7"/>
          </a:solidFill>
          <a:ln w="22860">
            <a:solidFill>
              <a:srgbClr val="E6DED2"/>
            </a:solidFill>
            <a:prstDash val="solid"/>
          </a:ln>
          <a:effectLst>
            <a:outerShdw sx="100000" sy="100000" kx="0" ky="0" algn="bl" rotWithShape="0" blurRad="0" dist="15240" dir="2700000">
              <a:srgbClr val="e6ded2">
                <a:alpha val="100000"/>
              </a:srgbClr>
            </a:outerShdw>
          </a:effectLst>
        </p:spPr>
      </p:sp>
      <p:sp>
        <p:nvSpPr>
          <p:cNvPr id="16" name="Shape 14"/>
          <p:cNvSpPr/>
          <p:nvPr/>
        </p:nvSpPr>
        <p:spPr>
          <a:xfrm>
            <a:off x="5175171" y="4647009"/>
            <a:ext cx="91440" cy="2386608"/>
          </a:xfrm>
          <a:prstGeom prst="roundRect">
            <a:avLst>
              <a:gd name="adj" fmla="val 78140"/>
            </a:avLst>
          </a:prstGeom>
          <a:solidFill>
            <a:srgbClr val="E6DED2"/>
          </a:solidFill>
          <a:ln/>
        </p:spPr>
      </p:sp>
      <p:sp>
        <p:nvSpPr>
          <p:cNvPr id="17" name="Text 15"/>
          <p:cNvSpPr/>
          <p:nvPr/>
        </p:nvSpPr>
        <p:spPr>
          <a:xfrm>
            <a:off x="5467112" y="4839891"/>
            <a:ext cx="3764518" cy="265747"/>
          </a:xfrm>
          <a:prstGeom prst="rect">
            <a:avLst/>
          </a:prstGeom>
          <a:noFill/>
          <a:ln/>
        </p:spPr>
        <p:txBody>
          <a:bodyPr wrap="none" lIns="0" tIns="0" rIns="0" bIns="0" rtlCol="0" anchor="t"/>
          <a:lstStyle/>
          <a:p>
            <a:pPr algn="ctr" indent="0" marL="0">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Graph Convolutional Network (GCN)</a:t>
            </a:r>
            <a:endParaRPr lang="en-US" sz="1650" dirty="0"/>
          </a:p>
        </p:txBody>
      </p:sp>
      <p:sp>
        <p:nvSpPr>
          <p:cNvPr id="18" name="Text 16"/>
          <p:cNvSpPr/>
          <p:nvPr/>
        </p:nvSpPr>
        <p:spPr>
          <a:xfrm>
            <a:off x="5459492" y="5207675"/>
            <a:ext cx="3779877" cy="1360884"/>
          </a:xfrm>
          <a:prstGeom prst="rect">
            <a:avLst/>
          </a:prstGeom>
          <a:noFill/>
          <a:ln/>
        </p:spPr>
        <p:txBody>
          <a:bodyPr wrap="square" lIns="0" tIns="0" rIns="0" bIns="0" rtlCol="0" anchor="t"/>
          <a:lstStyle/>
          <a:p>
            <a:pPr algn="ctr"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The simpler baseline - just averages information from all neighbors. Uses 2 layers with 256 hidden units for AMiner. Fast to train but I suspected it might struggle with noisy data.</a:t>
            </a:r>
            <a:endParaRPr lang="en-US" sz="1300" dirty="0"/>
          </a:p>
        </p:txBody>
      </p:sp>
      <p:sp>
        <p:nvSpPr>
          <p:cNvPr id="19" name="Shape 17"/>
          <p:cNvSpPr/>
          <p:nvPr/>
        </p:nvSpPr>
        <p:spPr>
          <a:xfrm>
            <a:off x="9602272" y="4647009"/>
            <a:ext cx="4234220" cy="2386608"/>
          </a:xfrm>
          <a:prstGeom prst="roundRect">
            <a:avLst>
              <a:gd name="adj" fmla="val 4598"/>
            </a:avLst>
          </a:prstGeom>
          <a:solidFill>
            <a:srgbClr val="FDFBF7"/>
          </a:solidFill>
          <a:ln w="22860">
            <a:solidFill>
              <a:srgbClr val="E6DED2"/>
            </a:solidFill>
            <a:prstDash val="solid"/>
          </a:ln>
          <a:effectLst>
            <a:outerShdw sx="100000" sy="100000" kx="0" ky="0" algn="bl" rotWithShape="0" blurRad="0" dist="15240" dir="2700000">
              <a:srgbClr val="e6ded2">
                <a:alpha val="100000"/>
              </a:srgbClr>
            </a:outerShdw>
          </a:effectLst>
        </p:spPr>
      </p:sp>
      <p:sp>
        <p:nvSpPr>
          <p:cNvPr id="20" name="Shape 18"/>
          <p:cNvSpPr/>
          <p:nvPr/>
        </p:nvSpPr>
        <p:spPr>
          <a:xfrm>
            <a:off x="9579412" y="4647009"/>
            <a:ext cx="91440" cy="2386608"/>
          </a:xfrm>
          <a:prstGeom prst="roundRect">
            <a:avLst>
              <a:gd name="adj" fmla="val 78140"/>
            </a:avLst>
          </a:prstGeom>
          <a:solidFill>
            <a:srgbClr val="E6DED2"/>
          </a:solidFill>
          <a:ln/>
        </p:spPr>
      </p:sp>
      <p:sp>
        <p:nvSpPr>
          <p:cNvPr id="21" name="Text 19"/>
          <p:cNvSpPr/>
          <p:nvPr/>
        </p:nvSpPr>
        <p:spPr>
          <a:xfrm>
            <a:off x="10690384" y="4839891"/>
            <a:ext cx="2126456" cy="265747"/>
          </a:xfrm>
          <a:prstGeom prst="rect">
            <a:avLst/>
          </a:prstGeom>
          <a:noFill/>
          <a:ln/>
        </p:spPr>
        <p:txBody>
          <a:bodyPr wrap="none" lIns="0" tIns="0" rIns="0" bIns="0" rtlCol="0" anchor="t"/>
          <a:lstStyle/>
          <a:p>
            <a:pPr algn="ctr" indent="0" marL="0">
              <a:lnSpc>
                <a:spcPts val="2050"/>
              </a:lnSpc>
              <a:buNone/>
            </a:pPr>
            <a:r>
              <a:rPr lang="en-US" sz="1650" dirty="0">
                <a:solidFill>
                  <a:srgbClr val="4C4C4C"/>
                </a:solidFill>
                <a:latin typeface="Noto Serif Medium" pitchFamily="34" charset="0"/>
                <a:ea typeface="Noto Serif Medium" pitchFamily="34" charset="-122"/>
                <a:cs typeface="Noto Serif Medium" pitchFamily="34" charset="-120"/>
              </a:rPr>
              <a:t>GraphSAGE</a:t>
            </a:r>
            <a:endParaRPr lang="en-US" sz="1650" dirty="0"/>
          </a:p>
        </p:txBody>
      </p:sp>
      <p:sp>
        <p:nvSpPr>
          <p:cNvPr id="22" name="Text 20"/>
          <p:cNvSpPr/>
          <p:nvPr/>
        </p:nvSpPr>
        <p:spPr>
          <a:xfrm>
            <a:off x="9863733" y="5207675"/>
            <a:ext cx="3779877" cy="1088708"/>
          </a:xfrm>
          <a:prstGeom prst="rect">
            <a:avLst/>
          </a:prstGeom>
          <a:noFill/>
          <a:ln/>
        </p:spPr>
        <p:txBody>
          <a:bodyPr wrap="square" lIns="0" tIns="0" rIns="0" bIns="0" rtlCol="0" anchor="t"/>
          <a:lstStyle/>
          <a:p>
            <a:pPr algn="ctr"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Samples a random subset of neighbors instead of using all of them. This should scale better to large graphs. Honestly, I didn't expect this to be the winner, but it was.</a:t>
            </a:r>
            <a:endParaRPr lang="en-US" sz="1300" dirty="0"/>
          </a:p>
        </p:txBody>
      </p:sp>
      <p:sp>
        <p:nvSpPr>
          <p:cNvPr id="23" name="Text 21"/>
          <p:cNvSpPr/>
          <p:nvPr/>
        </p:nvSpPr>
        <p:spPr>
          <a:xfrm>
            <a:off x="793790" y="7224951"/>
            <a:ext cx="13042821" cy="272177"/>
          </a:xfrm>
          <a:prstGeom prst="rect">
            <a:avLst/>
          </a:prstGeom>
          <a:noFill/>
          <a:ln/>
        </p:spPr>
        <p:txBody>
          <a:bodyPr wrap="non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All models trained with Adam optimizer (learning rate 0.01 for OGB, 0.005 for AMiner) and 0.5 dropout for regularization.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23806"/>
            <a:ext cx="11461433" cy="637937"/>
          </a:xfrm>
          <a:prstGeom prst="rect">
            <a:avLst/>
          </a:prstGeom>
          <a:noFill/>
          <a:ln/>
        </p:spPr>
        <p:txBody>
          <a:bodyPr wrap="none" lIns="0" tIns="0" rIns="0" bIns="0" rtlCol="0" anchor="t"/>
          <a:lstStyle/>
          <a:p>
            <a:pPr algn="l" indent="0" marL="0">
              <a:lnSpc>
                <a:spcPts val="5000"/>
              </a:lnSpc>
              <a:buNone/>
            </a:pPr>
            <a:r>
              <a:rPr lang="en-US" sz="4000" dirty="0">
                <a:solidFill>
                  <a:srgbClr val="3A3A3A"/>
                </a:solidFill>
                <a:latin typeface="Noto Serif Medium" pitchFamily="34" charset="0"/>
                <a:ea typeface="Noto Serif Medium" pitchFamily="34" charset="-122"/>
                <a:cs typeface="Noto Serif Medium" pitchFamily="34" charset="-120"/>
              </a:rPr>
              <a:t>OGB arXiv: Model Choice Doesn't Matter Much</a:t>
            </a:r>
            <a:endParaRPr lang="en-US" sz="4000" dirty="0"/>
          </a:p>
        </p:txBody>
      </p:sp>
      <p:sp>
        <p:nvSpPr>
          <p:cNvPr id="3" name="Text 1"/>
          <p:cNvSpPr/>
          <p:nvPr/>
        </p:nvSpPr>
        <p:spPr>
          <a:xfrm>
            <a:off x="793790" y="2051566"/>
            <a:ext cx="6272451" cy="653415"/>
          </a:xfrm>
          <a:prstGeom prst="rect">
            <a:avLst/>
          </a:prstGeom>
          <a:noFill/>
          <a:ln/>
        </p:spPr>
        <p:txBody>
          <a:bodyPr wrap="square" lIns="0" tIns="0" rIns="0" bIns="0" rtlCol="0" anchor="t"/>
          <a:lstStyle/>
          <a:p>
            <a:pPr algn="l" indent="0" marL="0">
              <a:lnSpc>
                <a:spcPts val="2550"/>
              </a:lnSpc>
              <a:buNone/>
            </a:pPr>
            <a:r>
              <a:rPr lang="en-US" sz="1600" dirty="0">
                <a:solidFill>
                  <a:srgbClr val="4C4C4C"/>
                </a:solidFill>
                <a:latin typeface="Noto Serif" pitchFamily="34" charset="0"/>
                <a:ea typeface="Noto Serif" pitchFamily="34" charset="-122"/>
                <a:cs typeface="Noto Serif" pitchFamily="34" charset="-120"/>
              </a:rPr>
              <a:t>Let's dive into the performance on the OGB arXiv dataset, which is known for its clean and balanced nature.</a:t>
            </a:r>
            <a:endParaRPr lang="en-US" sz="1600" dirty="0"/>
          </a:p>
        </p:txBody>
      </p:sp>
      <p:pic>
        <p:nvPicPr>
          <p:cNvPr id="4" name="Image 0" descr="preencoded.png">    </p:cNvPr>
          <p:cNvPicPr>
            <a:picLocks noChangeAspect="1"/>
          </p:cNvPicPr>
          <p:nvPr/>
        </p:nvPicPr>
        <p:blipFill>
          <a:blip r:embed="rId1"/>
          <a:stretch>
            <a:fillRect/>
          </a:stretch>
        </p:blipFill>
        <p:spPr>
          <a:xfrm>
            <a:off x="793790" y="2934533"/>
            <a:ext cx="5645110" cy="2548771"/>
          </a:xfrm>
          <a:prstGeom prst="rect">
            <a:avLst/>
          </a:prstGeom>
        </p:spPr>
      </p:pic>
      <p:sp>
        <p:nvSpPr>
          <p:cNvPr id="5" name="Shape 2"/>
          <p:cNvSpPr/>
          <p:nvPr/>
        </p:nvSpPr>
        <p:spPr>
          <a:xfrm>
            <a:off x="2382203" y="5483304"/>
            <a:ext cx="204073" cy="204073"/>
          </a:xfrm>
          <a:prstGeom prst="roundRect">
            <a:avLst>
              <a:gd name="adj" fmla="val 8961"/>
            </a:avLst>
          </a:prstGeom>
          <a:solidFill>
            <a:srgbClr val="2B2722"/>
          </a:solidFill>
          <a:ln/>
        </p:spPr>
      </p:sp>
      <p:sp>
        <p:nvSpPr>
          <p:cNvPr id="6" name="Text 3"/>
          <p:cNvSpPr/>
          <p:nvPr/>
        </p:nvSpPr>
        <p:spPr>
          <a:xfrm>
            <a:off x="2647236" y="5483304"/>
            <a:ext cx="892850" cy="204192"/>
          </a:xfrm>
          <a:prstGeom prst="rect">
            <a:avLst/>
          </a:prstGeom>
          <a:noFill/>
          <a:ln/>
        </p:spPr>
        <p:txBody>
          <a:bodyPr wrap="none" lIns="0" tIns="0" rIns="0" bIns="0" rtlCol="0" anchor="t"/>
          <a:lstStyle/>
          <a:p>
            <a:pPr algn="l" indent="0" marL="0">
              <a:lnSpc>
                <a:spcPts val="1600"/>
              </a:lnSpc>
              <a:buNone/>
            </a:pPr>
            <a:r>
              <a:rPr lang="en-US" sz="1600" dirty="0">
                <a:solidFill>
                  <a:srgbClr val="4C4C4C"/>
                </a:solidFill>
                <a:latin typeface="Noto Serif" pitchFamily="34" charset="0"/>
                <a:ea typeface="Noto Serif" pitchFamily="34" charset="-122"/>
                <a:cs typeface="Noto Serif" pitchFamily="34" charset="-120"/>
              </a:rPr>
              <a:t>Accuracy</a:t>
            </a:r>
            <a:endParaRPr lang="en-US" sz="1600" dirty="0"/>
          </a:p>
        </p:txBody>
      </p:sp>
      <p:sp>
        <p:nvSpPr>
          <p:cNvPr id="7" name="Shape 4"/>
          <p:cNvSpPr/>
          <p:nvPr/>
        </p:nvSpPr>
        <p:spPr>
          <a:xfrm>
            <a:off x="3692485" y="5483304"/>
            <a:ext cx="204073" cy="204073"/>
          </a:xfrm>
          <a:prstGeom prst="roundRect">
            <a:avLst>
              <a:gd name="adj" fmla="val 8961"/>
            </a:avLst>
          </a:prstGeom>
          <a:solidFill>
            <a:srgbClr val="655D50"/>
          </a:solidFill>
          <a:ln/>
        </p:spPr>
      </p:sp>
      <p:sp>
        <p:nvSpPr>
          <p:cNvPr id="8" name="Text 5"/>
          <p:cNvSpPr/>
          <p:nvPr/>
        </p:nvSpPr>
        <p:spPr>
          <a:xfrm>
            <a:off x="3957518" y="5483304"/>
            <a:ext cx="832247" cy="204192"/>
          </a:xfrm>
          <a:prstGeom prst="rect">
            <a:avLst/>
          </a:prstGeom>
          <a:noFill/>
          <a:ln/>
        </p:spPr>
        <p:txBody>
          <a:bodyPr wrap="none" lIns="0" tIns="0" rIns="0" bIns="0" rtlCol="0" anchor="t"/>
          <a:lstStyle/>
          <a:p>
            <a:pPr algn="l" indent="0" marL="0">
              <a:lnSpc>
                <a:spcPts val="1600"/>
              </a:lnSpc>
              <a:buNone/>
            </a:pPr>
            <a:r>
              <a:rPr lang="en-US" sz="1600" dirty="0">
                <a:solidFill>
                  <a:srgbClr val="4C4C4C"/>
                </a:solidFill>
                <a:latin typeface="Noto Serif" pitchFamily="34" charset="0"/>
                <a:ea typeface="Noto Serif" pitchFamily="34" charset="-122"/>
                <a:cs typeface="Noto Serif" pitchFamily="34" charset="-120"/>
              </a:rPr>
              <a:t>F1-Score</a:t>
            </a:r>
            <a:endParaRPr lang="en-US" sz="1600" dirty="0"/>
          </a:p>
        </p:txBody>
      </p:sp>
      <p:sp>
        <p:nvSpPr>
          <p:cNvPr id="9" name="Text 6"/>
          <p:cNvSpPr/>
          <p:nvPr/>
        </p:nvSpPr>
        <p:spPr>
          <a:xfrm>
            <a:off x="7571780" y="2071926"/>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3A3A3A"/>
                </a:solidFill>
                <a:latin typeface="Noto Serif Medium" pitchFamily="34" charset="0"/>
                <a:ea typeface="Noto Serif Medium" pitchFamily="34" charset="-122"/>
                <a:cs typeface="Noto Serif Medium" pitchFamily="34" charset="-120"/>
              </a:rPr>
              <a:t>Results Overview</a:t>
            </a:r>
            <a:endParaRPr lang="en-US" sz="2400" dirty="0"/>
          </a:p>
        </p:txBody>
      </p:sp>
      <p:sp>
        <p:nvSpPr>
          <p:cNvPr id="10" name="Text 7"/>
          <p:cNvSpPr/>
          <p:nvPr/>
        </p:nvSpPr>
        <p:spPr>
          <a:xfrm>
            <a:off x="7571780" y="2658785"/>
            <a:ext cx="6272451" cy="980123"/>
          </a:xfrm>
          <a:prstGeom prst="rect">
            <a:avLst/>
          </a:prstGeom>
          <a:noFill/>
          <a:ln/>
        </p:spPr>
        <p:txBody>
          <a:bodyPr wrap="square" lIns="0" tIns="0" rIns="0" bIns="0" rtlCol="0" anchor="t"/>
          <a:lstStyle/>
          <a:p>
            <a:pPr algn="l" indent="0" marL="0">
              <a:lnSpc>
                <a:spcPts val="2550"/>
              </a:lnSpc>
              <a:buNone/>
            </a:pPr>
            <a:r>
              <a:rPr lang="en-US" sz="1600" dirty="0">
                <a:solidFill>
                  <a:srgbClr val="4C4C4C"/>
                </a:solidFill>
                <a:latin typeface="Noto Serif" pitchFamily="34" charset="0"/>
                <a:ea typeface="Noto Serif" pitchFamily="34" charset="-122"/>
                <a:cs typeface="Noto Serif" pitchFamily="34" charset="-120"/>
              </a:rPr>
              <a:t>On the OGB dataset, all three models achieved 50-53% accuracy. GAT was slightly better at 53.4%, but honestly the differences are minimal.</a:t>
            </a:r>
            <a:endParaRPr lang="en-US" sz="1600" dirty="0"/>
          </a:p>
        </p:txBody>
      </p:sp>
      <p:sp>
        <p:nvSpPr>
          <p:cNvPr id="11" name="Shape 8"/>
          <p:cNvSpPr/>
          <p:nvPr/>
        </p:nvSpPr>
        <p:spPr>
          <a:xfrm>
            <a:off x="7571780" y="3868460"/>
            <a:ext cx="6272451" cy="2370534"/>
          </a:xfrm>
          <a:prstGeom prst="roundRect">
            <a:avLst>
              <a:gd name="adj" fmla="val 3617"/>
            </a:avLst>
          </a:prstGeom>
          <a:solidFill>
            <a:srgbClr val="DDDAD4"/>
          </a:solidFill>
          <a:ln/>
        </p:spPr>
      </p:sp>
      <p:pic>
        <p:nvPicPr>
          <p:cNvPr id="12" name="Image 1" descr="preencoded.png">    </p:cNvPr>
          <p:cNvPicPr>
            <a:picLocks noChangeAspect="1"/>
          </p:cNvPicPr>
          <p:nvPr/>
        </p:nvPicPr>
        <p:blipFill>
          <a:blip r:embed="rId2"/>
          <a:stretch>
            <a:fillRect/>
          </a:stretch>
        </p:blipFill>
        <p:spPr>
          <a:xfrm>
            <a:off x="7775853" y="4151590"/>
            <a:ext cx="318968" cy="255151"/>
          </a:xfrm>
          <a:prstGeom prst="rect">
            <a:avLst/>
          </a:prstGeom>
        </p:spPr>
      </p:pic>
      <p:sp>
        <p:nvSpPr>
          <p:cNvPr id="13" name="Text 9"/>
          <p:cNvSpPr/>
          <p:nvPr/>
        </p:nvSpPr>
        <p:spPr>
          <a:xfrm>
            <a:off x="8298894" y="412349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000000"/>
                </a:solidFill>
                <a:latin typeface="Noto Serif Medium" pitchFamily="34" charset="0"/>
                <a:ea typeface="Noto Serif Medium" pitchFamily="34" charset="-122"/>
                <a:cs typeface="Noto Serif Medium" pitchFamily="34" charset="-120"/>
              </a:rPr>
              <a:t>Key Takeaway</a:t>
            </a:r>
            <a:endParaRPr lang="en-US" sz="2000" dirty="0"/>
          </a:p>
        </p:txBody>
      </p:sp>
      <p:sp>
        <p:nvSpPr>
          <p:cNvPr id="14" name="Text 10"/>
          <p:cNvSpPr/>
          <p:nvPr/>
        </p:nvSpPr>
        <p:spPr>
          <a:xfrm>
            <a:off x="8298894" y="4646414"/>
            <a:ext cx="5341263" cy="1306830"/>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Noto Serif" pitchFamily="34" charset="0"/>
                <a:ea typeface="Noto Serif" pitchFamily="34" charset="-122"/>
                <a:cs typeface="Noto Serif" pitchFamily="34" charset="-120"/>
              </a:rPr>
              <a:t>When you have a clean, well-balanced dataset with dense citation networks, model choice doesn't matter much. The data quality is more important than architecture.</a:t>
            </a:r>
            <a:endParaRPr lang="en-US" sz="1600" dirty="0"/>
          </a:p>
        </p:txBody>
      </p:sp>
      <p:sp>
        <p:nvSpPr>
          <p:cNvPr id="15" name="Text 11"/>
          <p:cNvSpPr/>
          <p:nvPr/>
        </p:nvSpPr>
        <p:spPr>
          <a:xfrm>
            <a:off x="7571780" y="6468547"/>
            <a:ext cx="6272451" cy="653415"/>
          </a:xfrm>
          <a:prstGeom prst="rect">
            <a:avLst/>
          </a:prstGeom>
          <a:noFill/>
          <a:ln/>
        </p:spPr>
        <p:txBody>
          <a:bodyPr wrap="square" lIns="0" tIns="0" rIns="0" bIns="0" rtlCol="0" anchor="t"/>
          <a:lstStyle/>
          <a:p>
            <a:pPr algn="l" indent="0" marL="0">
              <a:lnSpc>
                <a:spcPts val="2550"/>
              </a:lnSpc>
              <a:buNone/>
            </a:pPr>
            <a:r>
              <a:rPr lang="en-US" sz="1600" b="1" dirty="0">
                <a:solidFill>
                  <a:srgbClr val="4C4C4C"/>
                </a:solidFill>
                <a:latin typeface="Noto Serif" pitchFamily="34" charset="0"/>
                <a:ea typeface="Noto Serif" pitchFamily="34" charset="-122"/>
                <a:cs typeface="Noto Serif" pitchFamily="34" charset="-120"/>
              </a:rPr>
              <a:t>Link Prediction Bonus:</a:t>
            </a:r>
            <a:pPr algn="l" indent="0" marL="0">
              <a:lnSpc>
                <a:spcPts val="2550"/>
              </a:lnSpc>
              <a:buNone/>
            </a:pPr>
            <a:r>
              <a:rPr lang="en-US" sz="1600" dirty="0">
                <a:solidFill>
                  <a:srgbClr val="4C4C4C"/>
                </a:solidFill>
                <a:latin typeface="Noto Serif" pitchFamily="34" charset="0"/>
                <a:ea typeface="Noto Serif" pitchFamily="34" charset="-122"/>
                <a:cs typeface="Noto Serif" pitchFamily="34" charset="-120"/>
              </a:rPr>
              <a:t> GCN absolutely crushed link prediction with 90.1% AUC - way better than its classification performance.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2361" y="622578"/>
            <a:ext cx="9530834" cy="601385"/>
          </a:xfrm>
          <a:prstGeom prst="rect">
            <a:avLst/>
          </a:prstGeom>
          <a:noFill/>
          <a:ln/>
        </p:spPr>
        <p:txBody>
          <a:bodyPr wrap="none" lIns="0" tIns="0" rIns="0" bIns="0" rtlCol="0" anchor="t"/>
          <a:lstStyle/>
          <a:p>
            <a:pPr algn="l" indent="0" marL="0">
              <a:lnSpc>
                <a:spcPts val="4700"/>
              </a:lnSpc>
              <a:buNone/>
            </a:pPr>
            <a:r>
              <a:rPr lang="en-US" sz="3750" dirty="0">
                <a:solidFill>
                  <a:srgbClr val="3A3A3A"/>
                </a:solidFill>
                <a:latin typeface="Noto Serif Medium" pitchFamily="34" charset="0"/>
                <a:ea typeface="Noto Serif Medium" pitchFamily="34" charset="-122"/>
                <a:cs typeface="Noto Serif Medium" pitchFamily="34" charset="-120"/>
              </a:rPr>
              <a:t>AMiner: Architecture Choice is CRITICAL</a:t>
            </a:r>
            <a:endParaRPr lang="en-US" sz="3750" dirty="0"/>
          </a:p>
        </p:txBody>
      </p:sp>
      <p:sp>
        <p:nvSpPr>
          <p:cNvPr id="3" name="Text 1"/>
          <p:cNvSpPr/>
          <p:nvPr/>
        </p:nvSpPr>
        <p:spPr>
          <a:xfrm>
            <a:off x="792361" y="1685687"/>
            <a:ext cx="6288167" cy="615553"/>
          </a:xfrm>
          <a:prstGeom prst="rect">
            <a:avLst/>
          </a:prstGeom>
          <a:noFill/>
          <a:ln/>
        </p:spPr>
        <p:txBody>
          <a:bodyPr wrap="square" lIns="0" tIns="0" rIns="0" bIns="0" rtlCol="0" anchor="t"/>
          <a:lstStyle/>
          <a:p>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Let's look at the results from the AMiner dataset, where the model choice made a dramatic difference.</a:t>
            </a:r>
            <a:endParaRPr lang="en-US" sz="1500" dirty="0"/>
          </a:p>
        </p:txBody>
      </p:sp>
      <p:pic>
        <p:nvPicPr>
          <p:cNvPr id="4" name="Image 0" descr="preencoded.png">    </p:cNvPr>
          <p:cNvPicPr>
            <a:picLocks noChangeAspect="1"/>
          </p:cNvPicPr>
          <p:nvPr/>
        </p:nvPicPr>
        <p:blipFill>
          <a:blip r:embed="rId1"/>
          <a:stretch>
            <a:fillRect/>
          </a:stretch>
        </p:blipFill>
        <p:spPr>
          <a:xfrm>
            <a:off x="792361" y="2517696"/>
            <a:ext cx="5344835" cy="2415540"/>
          </a:xfrm>
          <a:prstGeom prst="rect">
            <a:avLst/>
          </a:prstGeom>
        </p:spPr>
      </p:pic>
      <p:sp>
        <p:nvSpPr>
          <p:cNvPr id="5" name="Shape 2"/>
          <p:cNvSpPr/>
          <p:nvPr/>
        </p:nvSpPr>
        <p:spPr>
          <a:xfrm>
            <a:off x="2293382" y="4933236"/>
            <a:ext cx="192405" cy="192405"/>
          </a:xfrm>
          <a:prstGeom prst="roundRect">
            <a:avLst>
              <a:gd name="adj" fmla="val 9505"/>
            </a:avLst>
          </a:prstGeom>
          <a:solidFill>
            <a:srgbClr val="2B2722"/>
          </a:solidFill>
          <a:ln/>
        </p:spPr>
      </p:sp>
      <p:sp>
        <p:nvSpPr>
          <p:cNvPr id="6" name="Text 3"/>
          <p:cNvSpPr/>
          <p:nvPr/>
        </p:nvSpPr>
        <p:spPr>
          <a:xfrm>
            <a:off x="2546747" y="4933236"/>
            <a:ext cx="841772" cy="192405"/>
          </a:xfrm>
          <a:prstGeom prst="rect">
            <a:avLst/>
          </a:prstGeom>
          <a:noFill/>
          <a:ln/>
        </p:spPr>
        <p:txBody>
          <a:bodyPr wrap="none" lIns="0" tIns="0" rIns="0" bIns="0" rtlCol="0" anchor="t"/>
          <a:lstStyle/>
          <a:p>
            <a:pPr algn="l" indent="0" marL="0">
              <a:lnSpc>
                <a:spcPts val="1500"/>
              </a:lnSpc>
              <a:buNone/>
            </a:pPr>
            <a:r>
              <a:rPr lang="en-US" sz="1500" dirty="0">
                <a:solidFill>
                  <a:srgbClr val="4C4C4C"/>
                </a:solidFill>
                <a:latin typeface="Noto Serif" pitchFamily="34" charset="0"/>
                <a:ea typeface="Noto Serif" pitchFamily="34" charset="-122"/>
                <a:cs typeface="Noto Serif" pitchFamily="34" charset="-120"/>
              </a:rPr>
              <a:t>Accuracy</a:t>
            </a:r>
            <a:endParaRPr lang="en-US" sz="1500" dirty="0"/>
          </a:p>
        </p:txBody>
      </p:sp>
      <p:sp>
        <p:nvSpPr>
          <p:cNvPr id="7" name="Shape 4"/>
          <p:cNvSpPr/>
          <p:nvPr/>
        </p:nvSpPr>
        <p:spPr>
          <a:xfrm>
            <a:off x="3540919" y="4933236"/>
            <a:ext cx="192405" cy="192405"/>
          </a:xfrm>
          <a:prstGeom prst="roundRect">
            <a:avLst>
              <a:gd name="adj" fmla="val 9505"/>
            </a:avLst>
          </a:prstGeom>
          <a:solidFill>
            <a:srgbClr val="655D50"/>
          </a:solidFill>
          <a:ln/>
        </p:spPr>
      </p:sp>
      <p:sp>
        <p:nvSpPr>
          <p:cNvPr id="8" name="Text 5"/>
          <p:cNvSpPr/>
          <p:nvPr/>
        </p:nvSpPr>
        <p:spPr>
          <a:xfrm>
            <a:off x="3794284" y="4933236"/>
            <a:ext cx="784741" cy="192405"/>
          </a:xfrm>
          <a:prstGeom prst="rect">
            <a:avLst/>
          </a:prstGeom>
          <a:noFill/>
          <a:ln/>
        </p:spPr>
        <p:txBody>
          <a:bodyPr wrap="none" lIns="0" tIns="0" rIns="0" bIns="0" rtlCol="0" anchor="t"/>
          <a:lstStyle/>
          <a:p>
            <a:pPr algn="l" indent="0" marL="0">
              <a:lnSpc>
                <a:spcPts val="1500"/>
              </a:lnSpc>
              <a:buNone/>
            </a:pPr>
            <a:r>
              <a:rPr lang="en-US" sz="1500" dirty="0">
                <a:solidFill>
                  <a:srgbClr val="4C4C4C"/>
                </a:solidFill>
                <a:latin typeface="Noto Serif" pitchFamily="34" charset="0"/>
                <a:ea typeface="Noto Serif" pitchFamily="34" charset="-122"/>
                <a:cs typeface="Noto Serif" pitchFamily="34" charset="-120"/>
              </a:rPr>
              <a:t>F1-Score</a:t>
            </a:r>
            <a:endParaRPr lang="en-US" sz="1500" dirty="0"/>
          </a:p>
        </p:txBody>
      </p:sp>
      <p:sp>
        <p:nvSpPr>
          <p:cNvPr id="9" name="Text 6"/>
          <p:cNvSpPr/>
          <p:nvPr/>
        </p:nvSpPr>
        <p:spPr>
          <a:xfrm>
            <a:off x="792361" y="5727144"/>
            <a:ext cx="6288167" cy="923330"/>
          </a:xfrm>
          <a:prstGeom prst="rect">
            <a:avLst/>
          </a:prstGeom>
          <a:noFill/>
          <a:ln/>
        </p:spPr>
        <p:txBody>
          <a:bodyPr wrap="square" lIns="0" tIns="0" rIns="0" bIns="0" rtlCol="0" anchor="t"/>
          <a:lstStyle/>
          <a:p>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GraphSAGE: </a:t>
            </a:r>
            <a:pPr algn="l" indent="0" marL="0">
              <a:lnSpc>
                <a:spcPts val="2400"/>
              </a:lnSpc>
              <a:buNone/>
            </a:pPr>
            <a:r>
              <a:rPr lang="en-US" sz="1500" b="1" dirty="0">
                <a:solidFill>
                  <a:srgbClr val="4C4C4C"/>
                </a:solidFill>
                <a:latin typeface="Noto Serif" pitchFamily="34" charset="0"/>
                <a:ea typeface="Noto Serif" pitchFamily="34" charset="-122"/>
                <a:cs typeface="Noto Serif" pitchFamily="34" charset="-120"/>
              </a:rPr>
              <a:t>71.0%</a:t>
            </a:r>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 accuracy </a:t>
            </a:r>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GAT: 42.8% accuracy</a:t>
            </a:r>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GCN: 28.0% accuracy</a:t>
            </a:r>
            <a:endParaRPr lang="en-US" sz="1500" dirty="0"/>
          </a:p>
        </p:txBody>
      </p:sp>
      <p:sp>
        <p:nvSpPr>
          <p:cNvPr id="10" name="Text 7"/>
          <p:cNvSpPr/>
          <p:nvPr/>
        </p:nvSpPr>
        <p:spPr>
          <a:xfrm>
            <a:off x="792361" y="6823591"/>
            <a:ext cx="6288167" cy="615553"/>
          </a:xfrm>
          <a:prstGeom prst="rect">
            <a:avLst/>
          </a:prstGeom>
          <a:noFill/>
          <a:ln/>
        </p:spPr>
        <p:txBody>
          <a:bodyPr wrap="square" lIns="0" tIns="0" rIns="0" bIns="0" rtlCol="0" anchor="t"/>
          <a:lstStyle/>
          <a:p>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This was the biggest surprise of the project. GraphSAGE demolished the other two models.</a:t>
            </a:r>
            <a:endParaRPr lang="en-US" sz="1500" dirty="0"/>
          </a:p>
        </p:txBody>
      </p:sp>
      <p:sp>
        <p:nvSpPr>
          <p:cNvPr id="11" name="Text 8"/>
          <p:cNvSpPr/>
          <p:nvPr/>
        </p:nvSpPr>
        <p:spPr>
          <a:xfrm>
            <a:off x="7557492" y="1704975"/>
            <a:ext cx="3219807" cy="360878"/>
          </a:xfrm>
          <a:prstGeom prst="rect">
            <a:avLst/>
          </a:prstGeom>
          <a:noFill/>
          <a:ln/>
        </p:spPr>
        <p:txBody>
          <a:bodyPr wrap="none" lIns="0" tIns="0" rIns="0" bIns="0" rtlCol="0" anchor="t"/>
          <a:lstStyle/>
          <a:p>
            <a:pPr algn="l" indent="0" marL="0">
              <a:lnSpc>
                <a:spcPts val="2800"/>
              </a:lnSpc>
              <a:buNone/>
            </a:pPr>
            <a:r>
              <a:rPr lang="en-US" sz="2250" dirty="0">
                <a:solidFill>
                  <a:srgbClr val="3A3A3A"/>
                </a:solidFill>
                <a:latin typeface="Noto Serif Medium" pitchFamily="34" charset="0"/>
                <a:ea typeface="Noto Serif Medium" pitchFamily="34" charset="-122"/>
                <a:cs typeface="Noto Serif Medium" pitchFamily="34" charset="-120"/>
              </a:rPr>
              <a:t>Why Such a Huge Gap?</a:t>
            </a:r>
            <a:endParaRPr lang="en-US" sz="2250" dirty="0"/>
          </a:p>
        </p:txBody>
      </p:sp>
      <p:sp>
        <p:nvSpPr>
          <p:cNvPr id="12" name="Text 9"/>
          <p:cNvSpPr/>
          <p:nvPr/>
        </p:nvSpPr>
        <p:spPr>
          <a:xfrm>
            <a:off x="7557492" y="2258258"/>
            <a:ext cx="6288167" cy="923330"/>
          </a:xfrm>
          <a:prstGeom prst="rect">
            <a:avLst/>
          </a:prstGeom>
          <a:noFill/>
          <a:ln/>
        </p:spPr>
        <p:txBody>
          <a:bodyPr wrap="square" lIns="0" tIns="0" rIns="0" bIns="0" rtlCol="0" anchor="t"/>
          <a:lstStyle/>
          <a:p>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AMiner has class imbalance and sparse features. GraphSAGE's sampling approach handles messy real-world data way better than attention (GAT) or averaging (GCN).</a:t>
            </a:r>
            <a:endParaRPr lang="en-US" sz="1500" dirty="0"/>
          </a:p>
        </p:txBody>
      </p:sp>
      <p:sp>
        <p:nvSpPr>
          <p:cNvPr id="13" name="Text 10"/>
          <p:cNvSpPr/>
          <p:nvPr/>
        </p:nvSpPr>
        <p:spPr>
          <a:xfrm>
            <a:off x="7557492" y="3373993"/>
            <a:ext cx="2886670" cy="360878"/>
          </a:xfrm>
          <a:prstGeom prst="rect">
            <a:avLst/>
          </a:prstGeom>
          <a:noFill/>
          <a:ln/>
        </p:spPr>
        <p:txBody>
          <a:bodyPr wrap="none" lIns="0" tIns="0" rIns="0" bIns="0" rtlCol="0" anchor="t"/>
          <a:lstStyle/>
          <a:p>
            <a:pPr algn="l" indent="0" marL="0">
              <a:lnSpc>
                <a:spcPts val="2800"/>
              </a:lnSpc>
              <a:buNone/>
            </a:pPr>
            <a:r>
              <a:rPr lang="en-US" sz="2250" dirty="0">
                <a:solidFill>
                  <a:srgbClr val="3A3A3A"/>
                </a:solidFill>
                <a:latin typeface="Noto Serif Medium" pitchFamily="34" charset="0"/>
                <a:ea typeface="Noto Serif Medium" pitchFamily="34" charset="-122"/>
                <a:cs typeface="Noto Serif Medium" pitchFamily="34" charset="-120"/>
              </a:rPr>
              <a:t>What I Learned</a:t>
            </a:r>
            <a:endParaRPr lang="en-US" sz="2250" dirty="0"/>
          </a:p>
        </p:txBody>
      </p:sp>
      <p:sp>
        <p:nvSpPr>
          <p:cNvPr id="14" name="Text 11"/>
          <p:cNvSpPr/>
          <p:nvPr/>
        </p:nvSpPr>
        <p:spPr>
          <a:xfrm>
            <a:off x="7557492" y="3927277"/>
            <a:ext cx="6288167" cy="615553"/>
          </a:xfrm>
          <a:prstGeom prst="rect">
            <a:avLst/>
          </a:prstGeom>
          <a:noFill/>
          <a:ln/>
        </p:spPr>
        <p:txBody>
          <a:bodyPr wrap="square" lIns="0" tIns="0" rIns="0" bIns="0" rtlCol="0" anchor="t"/>
          <a:lstStyle/>
          <a:p>
            <a:pPr algn="l" indent="0" marL="0">
              <a:lnSpc>
                <a:spcPts val="2400"/>
              </a:lnSpc>
              <a:buNone/>
            </a:pPr>
            <a:r>
              <a:rPr lang="en-US" sz="1500" dirty="0">
                <a:solidFill>
                  <a:srgbClr val="4C4C4C"/>
                </a:solidFill>
                <a:latin typeface="Noto Serif" pitchFamily="34" charset="0"/>
                <a:ea typeface="Noto Serif" pitchFamily="34" charset="-122"/>
                <a:cs typeface="Noto Serif" pitchFamily="34" charset="-120"/>
              </a:rPr>
              <a:t>Don't assume fancier models (like attention) always win. Test everything, especially on real-world datasets.</a:t>
            </a:r>
            <a:endParaRPr lang="en-US" sz="1500" dirty="0"/>
          </a:p>
        </p:txBody>
      </p:sp>
      <p:sp>
        <p:nvSpPr>
          <p:cNvPr id="15" name="Shape 12"/>
          <p:cNvSpPr/>
          <p:nvPr/>
        </p:nvSpPr>
        <p:spPr>
          <a:xfrm>
            <a:off x="7557492" y="4759285"/>
            <a:ext cx="6288167" cy="1618417"/>
          </a:xfrm>
          <a:prstGeom prst="roundRect">
            <a:avLst>
              <a:gd name="adj" fmla="val 4994"/>
            </a:avLst>
          </a:prstGeom>
          <a:solidFill>
            <a:srgbClr val="DDDAD4"/>
          </a:solidFill>
          <a:ln/>
        </p:spPr>
      </p:sp>
      <p:pic>
        <p:nvPicPr>
          <p:cNvPr id="16" name="Image 1" descr="preencoded.png">    </p:cNvPr>
          <p:cNvPicPr>
            <a:picLocks noChangeAspect="1"/>
          </p:cNvPicPr>
          <p:nvPr/>
        </p:nvPicPr>
        <p:blipFill>
          <a:blip r:embed="rId2"/>
          <a:stretch>
            <a:fillRect/>
          </a:stretch>
        </p:blipFill>
        <p:spPr>
          <a:xfrm>
            <a:off x="7749897" y="5033129"/>
            <a:ext cx="300633" cy="240506"/>
          </a:xfrm>
          <a:prstGeom prst="rect">
            <a:avLst/>
          </a:prstGeom>
        </p:spPr>
      </p:pic>
      <p:sp>
        <p:nvSpPr>
          <p:cNvPr id="17" name="Text 13"/>
          <p:cNvSpPr/>
          <p:nvPr/>
        </p:nvSpPr>
        <p:spPr>
          <a:xfrm>
            <a:off x="8242935" y="4999792"/>
            <a:ext cx="3412093" cy="300633"/>
          </a:xfrm>
          <a:prstGeom prst="rect">
            <a:avLst/>
          </a:prstGeom>
          <a:noFill/>
          <a:ln/>
        </p:spPr>
        <p:txBody>
          <a:bodyPr wrap="none" lIns="0" tIns="0" rIns="0" bIns="0" rtlCol="0" anchor="t"/>
          <a:lstStyle/>
          <a:p>
            <a:pPr algn="l" indent="0" marL="0">
              <a:lnSpc>
                <a:spcPts val="2350"/>
              </a:lnSpc>
              <a:buNone/>
            </a:pPr>
            <a:r>
              <a:rPr lang="en-US" sz="1850" dirty="0">
                <a:solidFill>
                  <a:srgbClr val="000000"/>
                </a:solidFill>
                <a:latin typeface="Noto Serif Medium" pitchFamily="34" charset="0"/>
                <a:ea typeface="Noto Serif Medium" pitchFamily="34" charset="-122"/>
                <a:cs typeface="Noto Serif Medium" pitchFamily="34" charset="-120"/>
              </a:rPr>
              <a:t>Production Recommendation</a:t>
            </a:r>
            <a:endParaRPr lang="en-US" sz="1850" dirty="0"/>
          </a:p>
        </p:txBody>
      </p:sp>
      <p:sp>
        <p:nvSpPr>
          <p:cNvPr id="18" name="Text 14"/>
          <p:cNvSpPr/>
          <p:nvPr/>
        </p:nvSpPr>
        <p:spPr>
          <a:xfrm>
            <a:off x="8242935" y="5492829"/>
            <a:ext cx="5410319" cy="615553"/>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Noto Serif" pitchFamily="34" charset="0"/>
                <a:ea typeface="Noto Serif" pitchFamily="34" charset="-122"/>
                <a:cs typeface="Noto Serif" pitchFamily="34" charset="-120"/>
              </a:rPr>
              <a:t>Given its robustness, GraphSAGE is the clear choice for real-world datasets like AMiner.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93658"/>
            <a:ext cx="10871597" cy="566976"/>
          </a:xfrm>
          <a:prstGeom prst="rect">
            <a:avLst/>
          </a:prstGeom>
          <a:noFill/>
          <a:ln/>
        </p:spPr>
        <p:txBody>
          <a:bodyPr wrap="none" lIns="0" tIns="0" rIns="0" bIns="0" rtlCol="0" anchor="t"/>
          <a:lstStyle/>
          <a:p>
            <a:pPr algn="l" indent="0" marL="0">
              <a:lnSpc>
                <a:spcPts val="4450"/>
              </a:lnSpc>
              <a:buNone/>
            </a:pPr>
            <a:r>
              <a:rPr lang="en-US" sz="3550" dirty="0">
                <a:solidFill>
                  <a:srgbClr val="3A3A3A"/>
                </a:solidFill>
                <a:latin typeface="Noto Serif Medium" pitchFamily="34" charset="0"/>
                <a:ea typeface="Noto Serif Medium" pitchFamily="34" charset="-122"/>
                <a:cs typeface="Noto Serif Medium" pitchFamily="34" charset="-120"/>
              </a:rPr>
              <a:t>Deployment Challenges &amp; Real-World Application</a:t>
            </a:r>
            <a:endParaRPr lang="en-US" sz="3550" dirty="0"/>
          </a:p>
        </p:txBody>
      </p:sp>
      <p:sp>
        <p:nvSpPr>
          <p:cNvPr id="3" name="Text 1"/>
          <p:cNvSpPr/>
          <p:nvPr/>
        </p:nvSpPr>
        <p:spPr>
          <a:xfrm>
            <a:off x="793790" y="1333143"/>
            <a:ext cx="5674876" cy="340162"/>
          </a:xfrm>
          <a:prstGeom prst="rect">
            <a:avLst/>
          </a:prstGeom>
          <a:noFill/>
          <a:ln/>
        </p:spPr>
        <p:txBody>
          <a:bodyPr wrap="none" lIns="0" tIns="0" rIns="0" bIns="0" rtlCol="0" anchor="t"/>
          <a:lstStyle/>
          <a:p>
            <a:pPr algn="l" indent="0" marL="0">
              <a:lnSpc>
                <a:spcPts val="2650"/>
              </a:lnSpc>
              <a:buNone/>
            </a:pPr>
            <a:r>
              <a:rPr lang="en-US" sz="2100" dirty="0">
                <a:solidFill>
                  <a:srgbClr val="3A3A3A"/>
                </a:solidFill>
                <a:latin typeface="Noto Serif Medium" pitchFamily="34" charset="0"/>
                <a:ea typeface="Noto Serif Medium" pitchFamily="34" charset="-122"/>
                <a:cs typeface="Noto Serif Medium" pitchFamily="34" charset="-120"/>
              </a:rPr>
              <a:t>Deployment: From Notebook to Production</a:t>
            </a:r>
            <a:endParaRPr lang="en-US" sz="2100" dirty="0"/>
          </a:p>
        </p:txBody>
      </p:sp>
      <p:sp>
        <p:nvSpPr>
          <p:cNvPr id="4" name="Text 2"/>
          <p:cNvSpPr/>
          <p:nvPr/>
        </p:nvSpPr>
        <p:spPr>
          <a:xfrm>
            <a:off x="793790" y="1945481"/>
            <a:ext cx="13042821" cy="870823"/>
          </a:xfrm>
          <a:prstGeom prst="rect">
            <a:avLst/>
          </a:prstGeom>
          <a:noFill/>
          <a:ln/>
        </p:spPr>
        <p:txBody>
          <a:bodyPr wrap="square" lIns="0" tIns="0" rIns="0" bIns="0" rtlCol="0" anchor="t"/>
          <a:lstStyle/>
          <a:p>
            <a:pPr algn="l" indent="0" marL="0">
              <a:lnSpc>
                <a:spcPts val="2250"/>
              </a:lnSpc>
              <a:buNone/>
            </a:pPr>
            <a:r>
              <a:rPr lang="en-US" sz="1400" b="1" dirty="0">
                <a:solidFill>
                  <a:srgbClr val="4C4C4C"/>
                </a:solidFill>
                <a:latin typeface="Noto Serif" pitchFamily="34" charset="0"/>
                <a:ea typeface="Noto Serif" pitchFamily="34" charset="-122"/>
                <a:cs typeface="Noto Serif" pitchFamily="34" charset="-120"/>
              </a:rPr>
              <a:t>Getting It Live</a:t>
            </a:r>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I deployed Research Compass on Streamlit Cloud so anyone can use it without installation. The app is free, open-source, and accessible worldwide - no authentication required.</a:t>
            </a:r>
            <a:endParaRPr lang="en-US" sz="1400" dirty="0"/>
          </a:p>
        </p:txBody>
      </p:sp>
      <p:sp>
        <p:nvSpPr>
          <p:cNvPr id="5" name="Text 3"/>
          <p:cNvSpPr/>
          <p:nvPr/>
        </p:nvSpPr>
        <p:spPr>
          <a:xfrm>
            <a:off x="793790" y="3020378"/>
            <a:ext cx="13042821" cy="290274"/>
          </a:xfrm>
          <a:prstGeom prst="rect">
            <a:avLst/>
          </a:prstGeom>
          <a:noFill/>
          <a:ln/>
        </p:spPr>
        <p:txBody>
          <a:bodyPr wrap="none" lIns="0" tIns="0" rIns="0" bIns="0" rtlCol="0" anchor="t"/>
          <a:lstStyle/>
          <a:p>
            <a:pPr algn="l" indent="0" marL="0">
              <a:lnSpc>
                <a:spcPts val="2250"/>
              </a:lnSpc>
              <a:buNone/>
            </a:pPr>
            <a:r>
              <a:rPr lang="en-US" sz="1400" b="1" dirty="0">
                <a:solidFill>
                  <a:srgbClr val="4C4C4C"/>
                </a:solidFill>
                <a:latin typeface="Noto Serif" pitchFamily="34" charset="0"/>
                <a:ea typeface="Noto Serif" pitchFamily="34" charset="-122"/>
                <a:cs typeface="Noto Serif" pitchFamily="34" charset="-120"/>
              </a:rPr>
              <a:t>Technical Challenges I Solve</a:t>
            </a:r>
            <a:endParaRPr lang="en-US" sz="1400" dirty="0"/>
          </a:p>
        </p:txBody>
      </p:sp>
      <p:sp>
        <p:nvSpPr>
          <p:cNvPr id="6" name="Text 4"/>
          <p:cNvSpPr/>
          <p:nvPr/>
        </p:nvSpPr>
        <p:spPr>
          <a:xfrm>
            <a:off x="793790" y="3582829"/>
            <a:ext cx="2577822" cy="283488"/>
          </a:xfrm>
          <a:prstGeom prst="rect">
            <a:avLst/>
          </a:prstGeom>
          <a:noFill/>
          <a:ln/>
        </p:spPr>
        <p:txBody>
          <a:bodyPr wrap="none" lIns="0" tIns="0" rIns="0" bIns="0" rtlCol="0" anchor="t"/>
          <a:lstStyle/>
          <a:p>
            <a:pPr algn="l" indent="0" marL="0">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Challenge 1: Model Size</a:t>
            </a:r>
            <a:endParaRPr lang="en-US" sz="1750" dirty="0"/>
          </a:p>
        </p:txBody>
      </p:sp>
      <p:sp>
        <p:nvSpPr>
          <p:cNvPr id="7" name="Text 5"/>
          <p:cNvSpPr/>
          <p:nvPr/>
        </p:nvSpPr>
        <p:spPr>
          <a:xfrm>
            <a:off x="793790" y="4138493"/>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PyTorch models are huge (hundreds of MB). Streamlit has strict size limits, so I had to compress the models by saving only the weights and rebuilding the architecture at runtime.</a:t>
            </a:r>
            <a:endParaRPr lang="en-US" sz="1400" dirty="0"/>
          </a:p>
        </p:txBody>
      </p:sp>
      <p:sp>
        <p:nvSpPr>
          <p:cNvPr id="8" name="Text 6"/>
          <p:cNvSpPr/>
          <p:nvPr/>
        </p:nvSpPr>
        <p:spPr>
          <a:xfrm>
            <a:off x="793790" y="4991219"/>
            <a:ext cx="2991088" cy="283488"/>
          </a:xfrm>
          <a:prstGeom prst="rect">
            <a:avLst/>
          </a:prstGeom>
          <a:noFill/>
          <a:ln/>
        </p:spPr>
        <p:txBody>
          <a:bodyPr wrap="none" lIns="0" tIns="0" rIns="0" bIns="0" rtlCol="0" anchor="t"/>
          <a:lstStyle/>
          <a:p>
            <a:pPr algn="l" indent="0" marL="0">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Challenge 2: Dataset Access</a:t>
            </a:r>
            <a:endParaRPr lang="en-US" sz="1750" dirty="0"/>
          </a:p>
        </p:txBody>
      </p:sp>
      <p:sp>
        <p:nvSpPr>
          <p:cNvPr id="9" name="Text 7"/>
          <p:cNvSpPr/>
          <p:nvPr/>
        </p:nvSpPr>
        <p:spPr>
          <a:xfrm>
            <a:off x="793790" y="5546884"/>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Can't ship 169,000 papers with the web app. Solution: pre-computed the TF-IDF vectorizer during training and use it to project new papers into the same feature space.</a:t>
            </a:r>
            <a:endParaRPr lang="en-US" sz="1400" dirty="0"/>
          </a:p>
        </p:txBody>
      </p:sp>
      <p:sp>
        <p:nvSpPr>
          <p:cNvPr id="10" name="Text 8"/>
          <p:cNvSpPr/>
          <p:nvPr/>
        </p:nvSpPr>
        <p:spPr>
          <a:xfrm>
            <a:off x="793790" y="6399609"/>
            <a:ext cx="5305663" cy="283488"/>
          </a:xfrm>
          <a:prstGeom prst="rect">
            <a:avLst/>
          </a:prstGeom>
          <a:noFill/>
          <a:ln/>
        </p:spPr>
        <p:txBody>
          <a:bodyPr wrap="none" lIns="0" tIns="0" rIns="0" bIns="0" rtlCol="0" anchor="t"/>
          <a:lstStyle/>
          <a:p>
            <a:pPr algn="l" indent="0" marL="0">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Challenge 3: Graph Construction for New Papers</a:t>
            </a:r>
            <a:endParaRPr lang="en-US" sz="1750" dirty="0"/>
          </a:p>
        </p:txBody>
      </p:sp>
      <p:sp>
        <p:nvSpPr>
          <p:cNvPr id="11" name="Text 9"/>
          <p:cNvSpPr/>
          <p:nvPr/>
        </p:nvSpPr>
        <p:spPr>
          <a:xfrm>
            <a:off x="793790" y="6955274"/>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New papers don't have real citations yet. I build temporary K-NN graphs connecting them to similar papers from the training set based on content similarity.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68310"/>
            <a:ext cx="7993975" cy="637937"/>
          </a:xfrm>
          <a:prstGeom prst="rect">
            <a:avLst/>
          </a:prstGeom>
          <a:noFill/>
          <a:ln/>
        </p:spPr>
        <p:txBody>
          <a:bodyPr wrap="none" lIns="0" tIns="0" rIns="0" bIns="0" rtlCol="0" anchor="t"/>
          <a:lstStyle/>
          <a:p>
            <a:pPr algn="l" indent="0" marL="0">
              <a:lnSpc>
                <a:spcPts val="5000"/>
              </a:lnSpc>
              <a:buNone/>
            </a:pPr>
            <a:r>
              <a:rPr lang="en-US" sz="4000" dirty="0">
                <a:solidFill>
                  <a:srgbClr val="3A3A3A"/>
                </a:solidFill>
                <a:latin typeface="Noto Serif Medium" pitchFamily="34" charset="0"/>
                <a:ea typeface="Noto Serif Medium" pitchFamily="34" charset="-122"/>
                <a:cs typeface="Noto Serif Medium" pitchFamily="34" charset="-120"/>
              </a:rPr>
              <a:t>Making Predictions Transparent</a:t>
            </a:r>
            <a:endParaRPr lang="en-US" sz="4000" dirty="0"/>
          </a:p>
        </p:txBody>
      </p:sp>
      <p:sp>
        <p:nvSpPr>
          <p:cNvPr id="3" name="Text 1"/>
          <p:cNvSpPr/>
          <p:nvPr/>
        </p:nvSpPr>
        <p:spPr>
          <a:xfrm>
            <a:off x="793790" y="1712357"/>
            <a:ext cx="13042821" cy="326708"/>
          </a:xfrm>
          <a:prstGeom prst="rect">
            <a:avLst/>
          </a:prstGeom>
          <a:noFill/>
          <a:ln/>
        </p:spPr>
        <p:txBody>
          <a:bodyPr wrap="none" lIns="0" tIns="0" rIns="0" bIns="0" rtlCol="0" anchor="t"/>
          <a:lstStyle/>
          <a:p>
            <a:pPr algn="l" indent="0" marL="0">
              <a:lnSpc>
                <a:spcPts val="2550"/>
              </a:lnSpc>
              <a:buNone/>
            </a:pPr>
            <a:r>
              <a:rPr lang="en-US" sz="1600" dirty="0">
                <a:solidFill>
                  <a:srgbClr val="4C4C4C"/>
                </a:solidFill>
                <a:latin typeface="Noto Serif" pitchFamily="34" charset="0"/>
                <a:ea typeface="Noto Serif" pitchFamily="34" charset="-122"/>
                <a:cs typeface="Noto Serif" pitchFamily="34" charset="-120"/>
              </a:rPr>
              <a:t>I wanted this system to be more than a black box. Here's what I built for interpretability:</a:t>
            </a:r>
            <a:endParaRPr lang="en-US" sz="1600" dirty="0"/>
          </a:p>
        </p:txBody>
      </p:sp>
      <p:sp>
        <p:nvSpPr>
          <p:cNvPr id="4" name="Shape 2"/>
          <p:cNvSpPr/>
          <p:nvPr/>
        </p:nvSpPr>
        <p:spPr>
          <a:xfrm>
            <a:off x="793790" y="2268617"/>
            <a:ext cx="4211479" cy="3470434"/>
          </a:xfrm>
          <a:prstGeom prst="roundRect">
            <a:avLst>
              <a:gd name="adj" fmla="val 2471"/>
            </a:avLst>
          </a:prstGeom>
          <a:solidFill>
            <a:srgbClr val="E6DED2">
              <a:alpha val="50000"/>
            </a:srgbClr>
          </a:solidFill>
          <a:ln w="7620">
            <a:solidFill>
              <a:srgbClr val="CCC4B8"/>
            </a:solidFill>
            <a:prstDash val="solid"/>
          </a:ln>
          <a:effectLst>
            <a:outerShdw sx="100000" sy="100000" kx="0" ky="0" algn="bl" rotWithShape="0" blurRad="0" dist="19050" dir="2700000">
              <a:srgbClr val="ccc4b8">
                <a:alpha val="100000"/>
              </a:srgbClr>
            </a:outerShdw>
          </a:effectLst>
        </p:spPr>
      </p:sp>
      <p:sp>
        <p:nvSpPr>
          <p:cNvPr id="5" name="Text 3"/>
          <p:cNvSpPr/>
          <p:nvPr/>
        </p:nvSpPr>
        <p:spPr>
          <a:xfrm>
            <a:off x="1005483" y="2480310"/>
            <a:ext cx="3788093" cy="637699"/>
          </a:xfrm>
          <a:prstGeom prst="rect">
            <a:avLst/>
          </a:prstGeom>
          <a:noFill/>
          <a:ln/>
        </p:spPr>
        <p:txBody>
          <a:bodyPr wrap="square" lIns="0" tIns="0" rIns="0" bIns="0" rtlCol="0" anchor="t"/>
          <a:lstStyle/>
          <a:p>
            <a:pPr algn="ctr" indent="0" marL="0">
              <a:lnSpc>
                <a:spcPts val="2500"/>
              </a:lnSpc>
              <a:buNone/>
            </a:pPr>
            <a:r>
              <a:rPr lang="en-US" sz="2000" b="1" dirty="0">
                <a:solidFill>
                  <a:srgbClr val="000000"/>
                </a:solidFill>
                <a:latin typeface="Noto Serif Medium" pitchFamily="34" charset="0"/>
                <a:ea typeface="Noto Serif Medium" pitchFamily="34" charset="-122"/>
                <a:cs typeface="Noto Serif Medium" pitchFamily="34" charset="-120"/>
              </a:rPr>
              <a:t>Interactive Knowledge Graph</a:t>
            </a:r>
            <a:endParaRPr lang="en-US" sz="2000" dirty="0"/>
          </a:p>
        </p:txBody>
      </p:sp>
      <p:sp>
        <p:nvSpPr>
          <p:cNvPr id="6" name="Text 4"/>
          <p:cNvSpPr/>
          <p:nvPr/>
        </p:nvSpPr>
        <p:spPr>
          <a:xfrm>
            <a:off x="1005483" y="3240405"/>
            <a:ext cx="3788093" cy="2286953"/>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Noto Serif" pitchFamily="34" charset="0"/>
                <a:ea typeface="Noto Serif" pitchFamily="34" charset="-122"/>
                <a:cs typeface="Noto Serif" pitchFamily="34" charset="-120"/>
              </a:rPr>
              <a:t>The interface shows which papers in the citation network actually influenced each prediction. You can see the 10 nearest neighbors and how they're connected. This lets you verify that the model is making decisions based on reasonable citations.</a:t>
            </a:r>
            <a:endParaRPr lang="en-US" sz="1600" dirty="0"/>
          </a:p>
        </p:txBody>
      </p:sp>
      <p:sp>
        <p:nvSpPr>
          <p:cNvPr id="7" name="Shape 5"/>
          <p:cNvSpPr/>
          <p:nvPr/>
        </p:nvSpPr>
        <p:spPr>
          <a:xfrm>
            <a:off x="5209342" y="2268617"/>
            <a:ext cx="4211598" cy="3470434"/>
          </a:xfrm>
          <a:prstGeom prst="roundRect">
            <a:avLst>
              <a:gd name="adj" fmla="val 2471"/>
            </a:avLst>
          </a:prstGeom>
          <a:solidFill>
            <a:srgbClr val="E6DED2">
              <a:alpha val="50000"/>
            </a:srgbClr>
          </a:solidFill>
          <a:ln w="7620">
            <a:solidFill>
              <a:srgbClr val="CCC4B8"/>
            </a:solidFill>
            <a:prstDash val="solid"/>
          </a:ln>
          <a:effectLst>
            <a:outerShdw sx="100000" sy="100000" kx="0" ky="0" algn="bl" rotWithShape="0" blurRad="0" dist="19050" dir="2700000">
              <a:srgbClr val="ccc4b8">
                <a:alpha val="100000"/>
              </a:srgbClr>
            </a:outerShdw>
          </a:effectLst>
        </p:spPr>
      </p:sp>
      <p:sp>
        <p:nvSpPr>
          <p:cNvPr id="8" name="Text 6"/>
          <p:cNvSpPr/>
          <p:nvPr/>
        </p:nvSpPr>
        <p:spPr>
          <a:xfrm>
            <a:off x="6039207" y="2480310"/>
            <a:ext cx="2551748" cy="318849"/>
          </a:xfrm>
          <a:prstGeom prst="rect">
            <a:avLst/>
          </a:prstGeom>
          <a:noFill/>
          <a:ln/>
        </p:spPr>
        <p:txBody>
          <a:bodyPr wrap="none" lIns="0" tIns="0" rIns="0" bIns="0" rtlCol="0" anchor="t"/>
          <a:lstStyle/>
          <a:p>
            <a:pPr algn="ctr" indent="0" marL="0">
              <a:lnSpc>
                <a:spcPts val="2500"/>
              </a:lnSpc>
              <a:buNone/>
            </a:pPr>
            <a:r>
              <a:rPr lang="en-US" sz="2000" b="1" dirty="0">
                <a:solidFill>
                  <a:srgbClr val="000000"/>
                </a:solidFill>
                <a:latin typeface="Noto Serif Medium" pitchFamily="34" charset="0"/>
                <a:ea typeface="Noto Serif Medium" pitchFamily="34" charset="-122"/>
                <a:cs typeface="Noto Serif Medium" pitchFamily="34" charset="-120"/>
              </a:rPr>
              <a:t>Confidence Scores</a:t>
            </a:r>
            <a:endParaRPr lang="en-US" sz="2000" dirty="0"/>
          </a:p>
        </p:txBody>
      </p:sp>
      <p:sp>
        <p:nvSpPr>
          <p:cNvPr id="9" name="Text 7"/>
          <p:cNvSpPr/>
          <p:nvPr/>
        </p:nvSpPr>
        <p:spPr>
          <a:xfrm>
            <a:off x="5421035" y="2921556"/>
            <a:ext cx="3788212" cy="1960245"/>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Noto Serif" pitchFamily="34" charset="0"/>
                <a:ea typeface="Noto Serif" pitchFamily="34" charset="-122"/>
                <a:cs typeface="Noto Serif" pitchFamily="34" charset="-120"/>
              </a:rPr>
              <a:t>The system displays the top 5 predicted categories with probabilities. If it's only 35% confident, you know to take the prediction with a grain of salt. No false certainty.</a:t>
            </a:r>
            <a:endParaRPr lang="en-US" sz="1600" dirty="0"/>
          </a:p>
        </p:txBody>
      </p:sp>
      <p:sp>
        <p:nvSpPr>
          <p:cNvPr id="10" name="Shape 8"/>
          <p:cNvSpPr/>
          <p:nvPr/>
        </p:nvSpPr>
        <p:spPr>
          <a:xfrm>
            <a:off x="9625013" y="2268617"/>
            <a:ext cx="4211598" cy="3470434"/>
          </a:xfrm>
          <a:prstGeom prst="roundRect">
            <a:avLst>
              <a:gd name="adj" fmla="val 2471"/>
            </a:avLst>
          </a:prstGeom>
          <a:solidFill>
            <a:srgbClr val="E6DED2">
              <a:alpha val="50000"/>
            </a:srgbClr>
          </a:solidFill>
          <a:ln w="7620">
            <a:solidFill>
              <a:srgbClr val="CCC4B8"/>
            </a:solidFill>
            <a:prstDash val="solid"/>
          </a:ln>
          <a:effectLst>
            <a:outerShdw sx="100000" sy="100000" kx="0" ky="0" algn="bl" rotWithShape="0" blurRad="0" dist="19050" dir="2700000">
              <a:srgbClr val="ccc4b8">
                <a:alpha val="100000"/>
              </a:srgbClr>
            </a:outerShdw>
          </a:effectLst>
        </p:spPr>
      </p:sp>
      <p:sp>
        <p:nvSpPr>
          <p:cNvPr id="11" name="Text 9"/>
          <p:cNvSpPr/>
          <p:nvPr/>
        </p:nvSpPr>
        <p:spPr>
          <a:xfrm>
            <a:off x="10395942" y="2480310"/>
            <a:ext cx="2669738" cy="318849"/>
          </a:xfrm>
          <a:prstGeom prst="rect">
            <a:avLst/>
          </a:prstGeom>
          <a:noFill/>
          <a:ln/>
        </p:spPr>
        <p:txBody>
          <a:bodyPr wrap="none" lIns="0" tIns="0" rIns="0" bIns="0" rtlCol="0" anchor="t"/>
          <a:lstStyle/>
          <a:p>
            <a:pPr algn="ctr" indent="0" marL="0">
              <a:lnSpc>
                <a:spcPts val="2500"/>
              </a:lnSpc>
              <a:buNone/>
            </a:pPr>
            <a:r>
              <a:rPr lang="en-US" sz="2000" b="1" dirty="0">
                <a:solidFill>
                  <a:srgbClr val="000000"/>
                </a:solidFill>
                <a:latin typeface="Noto Serif Medium" pitchFamily="34" charset="0"/>
                <a:ea typeface="Noto Serif Medium" pitchFamily="34" charset="-122"/>
                <a:cs typeface="Noto Serif Medium" pitchFamily="34" charset="-120"/>
              </a:rPr>
              <a:t>Citation Traceability</a:t>
            </a:r>
            <a:endParaRPr lang="en-US" sz="2000" dirty="0"/>
          </a:p>
        </p:txBody>
      </p:sp>
      <p:sp>
        <p:nvSpPr>
          <p:cNvPr id="12" name="Text 10"/>
          <p:cNvSpPr/>
          <p:nvPr/>
        </p:nvSpPr>
        <p:spPr>
          <a:xfrm>
            <a:off x="9836706" y="2921556"/>
            <a:ext cx="3788212" cy="1633538"/>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Noto Serif" pitchFamily="34" charset="0"/>
                <a:ea typeface="Noto Serif" pitchFamily="34" charset="-122"/>
                <a:cs typeface="Noto Serif" pitchFamily="34" charset="-120"/>
              </a:rPr>
              <a:t>You can trace back exactly which papers the model "consulted" before making its decision. For researchers, this is crucial - you need to validate predictions, not blindly trust them.</a:t>
            </a:r>
            <a:endParaRPr lang="en-US" sz="1600" dirty="0"/>
          </a:p>
        </p:txBody>
      </p:sp>
      <p:sp>
        <p:nvSpPr>
          <p:cNvPr id="13" name="Shape 11"/>
          <p:cNvSpPr/>
          <p:nvPr/>
        </p:nvSpPr>
        <p:spPr>
          <a:xfrm>
            <a:off x="793790" y="5943124"/>
            <a:ext cx="13042821" cy="1518047"/>
          </a:xfrm>
          <a:prstGeom prst="roundRect">
            <a:avLst>
              <a:gd name="adj" fmla="val 5648"/>
            </a:avLst>
          </a:prstGeom>
          <a:solidFill>
            <a:srgbClr val="E6DED2">
              <a:alpha val="50000"/>
            </a:srgbClr>
          </a:solidFill>
          <a:ln w="7620">
            <a:solidFill>
              <a:srgbClr val="CCC4B8"/>
            </a:solidFill>
            <a:prstDash val="solid"/>
          </a:ln>
          <a:effectLst>
            <a:outerShdw sx="100000" sy="100000" kx="0" ky="0" algn="bl" rotWithShape="0" blurRad="0" dist="19050" dir="2700000">
              <a:srgbClr val="ccc4b8">
                <a:alpha val="100000"/>
              </a:srgbClr>
            </a:outerShdw>
          </a:effectLst>
        </p:spPr>
      </p:sp>
      <p:sp>
        <p:nvSpPr>
          <p:cNvPr id="14" name="Text 12"/>
          <p:cNvSpPr/>
          <p:nvPr/>
        </p:nvSpPr>
        <p:spPr>
          <a:xfrm>
            <a:off x="6039326" y="6154817"/>
            <a:ext cx="2551748" cy="318849"/>
          </a:xfrm>
          <a:prstGeom prst="rect">
            <a:avLst/>
          </a:prstGeom>
          <a:noFill/>
          <a:ln/>
        </p:spPr>
        <p:txBody>
          <a:bodyPr wrap="none" lIns="0" tIns="0" rIns="0" bIns="0" rtlCol="0" anchor="t"/>
          <a:lstStyle/>
          <a:p>
            <a:pPr algn="ctr" indent="0" marL="0">
              <a:lnSpc>
                <a:spcPts val="2500"/>
              </a:lnSpc>
              <a:buNone/>
            </a:pPr>
            <a:r>
              <a:rPr lang="en-US" sz="2000" b="1" dirty="0">
                <a:solidFill>
                  <a:srgbClr val="000000"/>
                </a:solidFill>
                <a:latin typeface="Noto Serif Medium" pitchFamily="34" charset="0"/>
                <a:ea typeface="Noto Serif Medium" pitchFamily="34" charset="-122"/>
                <a:cs typeface="Noto Serif Medium" pitchFamily="34" charset="-120"/>
              </a:rPr>
              <a:t>Why This Matters</a:t>
            </a:r>
            <a:endParaRPr lang="en-US" sz="2000" dirty="0"/>
          </a:p>
        </p:txBody>
      </p:sp>
      <p:sp>
        <p:nvSpPr>
          <p:cNvPr id="15" name="Text 13"/>
          <p:cNvSpPr/>
          <p:nvPr/>
        </p:nvSpPr>
        <p:spPr>
          <a:xfrm>
            <a:off x="1005483" y="6596063"/>
            <a:ext cx="12619434" cy="653415"/>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Noto Serif" pitchFamily="34" charset="0"/>
                <a:ea typeface="Noto Serif" pitchFamily="34" charset="-122"/>
                <a:cs typeface="Noto Serif" pitchFamily="34" charset="-120"/>
              </a:rPr>
              <a:t>In academic applications, explainability isn't optional. Researchers need to understand WHY a paper was classified a certain way to trust the system and catch errors.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1640" y="865584"/>
            <a:ext cx="6380440" cy="562808"/>
          </a:xfrm>
          <a:prstGeom prst="rect">
            <a:avLst/>
          </a:prstGeom>
          <a:noFill/>
          <a:ln/>
        </p:spPr>
        <p:txBody>
          <a:bodyPr wrap="none" lIns="0" tIns="0" rIns="0" bIns="0" rtlCol="0" anchor="t"/>
          <a:lstStyle/>
          <a:p>
            <a:pPr algn="l" indent="0" marL="0">
              <a:lnSpc>
                <a:spcPts val="4400"/>
              </a:lnSpc>
              <a:buNone/>
            </a:pPr>
            <a:r>
              <a:rPr lang="en-US" sz="3500" dirty="0">
                <a:solidFill>
                  <a:srgbClr val="3A3A3A"/>
                </a:solidFill>
                <a:latin typeface="Noto Serif Medium" pitchFamily="34" charset="0"/>
                <a:ea typeface="Noto Serif Medium" pitchFamily="34" charset="-122"/>
                <a:cs typeface="Noto Serif Medium" pitchFamily="34" charset="-120"/>
              </a:rPr>
              <a:t>Results Analysis &amp; Next Steps</a:t>
            </a:r>
            <a:endParaRPr lang="en-US" sz="3500" dirty="0"/>
          </a:p>
        </p:txBody>
      </p:sp>
      <p:sp>
        <p:nvSpPr>
          <p:cNvPr id="3" name="Text 1"/>
          <p:cNvSpPr/>
          <p:nvPr/>
        </p:nvSpPr>
        <p:spPr>
          <a:xfrm>
            <a:off x="741640" y="1878568"/>
            <a:ext cx="3146227" cy="337661"/>
          </a:xfrm>
          <a:prstGeom prst="rect">
            <a:avLst/>
          </a:prstGeom>
          <a:noFill/>
          <a:ln/>
        </p:spPr>
        <p:txBody>
          <a:bodyPr wrap="none" lIns="0" tIns="0" rIns="0" bIns="0" rtlCol="0" anchor="t"/>
          <a:lstStyle/>
          <a:p>
            <a:pPr algn="l" indent="0" marL="0">
              <a:lnSpc>
                <a:spcPts val="2650"/>
              </a:lnSpc>
              <a:buNone/>
            </a:pPr>
            <a:r>
              <a:rPr lang="en-US" sz="2100" dirty="0">
                <a:solidFill>
                  <a:srgbClr val="3A3A3A"/>
                </a:solidFill>
                <a:latin typeface="Noto Serif Medium" pitchFamily="34" charset="0"/>
                <a:ea typeface="Noto Serif Medium" pitchFamily="34" charset="-122"/>
                <a:cs typeface="Noto Serif Medium" pitchFamily="34" charset="-120"/>
              </a:rPr>
              <a:t>What the Results Tell Us</a:t>
            </a:r>
            <a:endParaRPr lang="en-US" sz="2100" dirty="0"/>
          </a:p>
        </p:txBody>
      </p:sp>
      <p:sp>
        <p:nvSpPr>
          <p:cNvPr id="4" name="Text 2"/>
          <p:cNvSpPr/>
          <p:nvPr/>
        </p:nvSpPr>
        <p:spPr>
          <a:xfrm>
            <a:off x="741640" y="2288262"/>
            <a:ext cx="6049089" cy="281345"/>
          </a:xfrm>
          <a:prstGeom prst="rect">
            <a:avLst/>
          </a:prstGeom>
          <a:noFill/>
          <a:ln/>
        </p:spPr>
        <p:txBody>
          <a:bodyPr wrap="none" lIns="0" tIns="0" rIns="0" bIns="0" rtlCol="0" anchor="t"/>
          <a:lstStyle/>
          <a:p>
            <a:pPr algn="l" indent="0" marL="0">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Finding #1: Clean Data Reduces Architecture Sensitivity</a:t>
            </a:r>
            <a:endParaRPr lang="en-US" sz="1750" dirty="0"/>
          </a:p>
        </p:txBody>
      </p:sp>
      <p:sp>
        <p:nvSpPr>
          <p:cNvPr id="5" name="Text 3"/>
          <p:cNvSpPr/>
          <p:nvPr/>
        </p:nvSpPr>
        <p:spPr>
          <a:xfrm>
            <a:off x="741640" y="2749629"/>
            <a:ext cx="6353889" cy="1152525"/>
          </a:xfrm>
          <a:prstGeom prst="rect">
            <a:avLst/>
          </a:prstGeom>
          <a:noFill/>
          <a:ln/>
        </p:spPr>
        <p:txBody>
          <a:bodyPr wrap="squar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On the well-curated OGB arXiv dataset, GAT, GCN, and GraphSAGE all achieved 50-53% accuracy. When your data is clean and balanced, you can focus on improving features rather than obsessing over model architecture.</a:t>
            </a:r>
            <a:endParaRPr lang="en-US" sz="1400" dirty="0"/>
          </a:p>
        </p:txBody>
      </p:sp>
      <p:sp>
        <p:nvSpPr>
          <p:cNvPr id="6" name="Text 4"/>
          <p:cNvSpPr/>
          <p:nvPr/>
        </p:nvSpPr>
        <p:spPr>
          <a:xfrm>
            <a:off x="741640" y="4082177"/>
            <a:ext cx="5944433" cy="281345"/>
          </a:xfrm>
          <a:prstGeom prst="rect">
            <a:avLst/>
          </a:prstGeom>
          <a:noFill/>
          <a:ln/>
        </p:spPr>
        <p:txBody>
          <a:bodyPr wrap="none" lIns="0" tIns="0" rIns="0" bIns="0" rtlCol="0" anchor="t"/>
          <a:lstStyle/>
          <a:p>
            <a:pPr algn="l" indent="0" marL="0">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Finding #2: Messy Data Demands Robust Architectures</a:t>
            </a:r>
            <a:endParaRPr lang="en-US" sz="1750" dirty="0"/>
          </a:p>
        </p:txBody>
      </p:sp>
      <p:sp>
        <p:nvSpPr>
          <p:cNvPr id="7" name="Text 5"/>
          <p:cNvSpPr/>
          <p:nvPr/>
        </p:nvSpPr>
        <p:spPr>
          <a:xfrm>
            <a:off x="741640" y="4543544"/>
            <a:ext cx="6353889" cy="1152525"/>
          </a:xfrm>
          <a:prstGeom prst="rect">
            <a:avLst/>
          </a:prstGeom>
          <a:noFill/>
          <a:ln/>
        </p:spPr>
        <p:txBody>
          <a:bodyPr wrap="squar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On AMiner with its class imbalance and sparse features, GraphSAGE (71%) dramatically outperformed GAT (43%) and GCN (28%). Sampling-based aggregation proved more robust than attention mechanisms or simple averaging.</a:t>
            </a:r>
            <a:endParaRPr lang="en-US" sz="1400" dirty="0"/>
          </a:p>
        </p:txBody>
      </p:sp>
      <p:sp>
        <p:nvSpPr>
          <p:cNvPr id="8" name="Text 6"/>
          <p:cNvSpPr/>
          <p:nvPr/>
        </p:nvSpPr>
        <p:spPr>
          <a:xfrm>
            <a:off x="741640" y="5876092"/>
            <a:ext cx="4800124" cy="281345"/>
          </a:xfrm>
          <a:prstGeom prst="rect">
            <a:avLst/>
          </a:prstGeom>
          <a:noFill/>
          <a:ln/>
        </p:spPr>
        <p:txBody>
          <a:bodyPr wrap="none" lIns="0" tIns="0" rIns="0" bIns="0" rtlCol="0" anchor="t"/>
          <a:lstStyle/>
          <a:p>
            <a:pPr algn="l" indent="0" marL="0">
              <a:lnSpc>
                <a:spcPts val="2200"/>
              </a:lnSpc>
              <a:buNone/>
            </a:pPr>
            <a:r>
              <a:rPr lang="en-US" sz="1750" dirty="0">
                <a:solidFill>
                  <a:srgbClr val="3A3A3A"/>
                </a:solidFill>
                <a:latin typeface="Noto Serif Medium" pitchFamily="34" charset="0"/>
                <a:ea typeface="Noto Serif Medium" pitchFamily="34" charset="-122"/>
                <a:cs typeface="Noto Serif Medium" pitchFamily="34" charset="-120"/>
              </a:rPr>
              <a:t>Finding #3: Explainability is Non-Negotiable</a:t>
            </a:r>
            <a:endParaRPr lang="en-US" sz="1750" dirty="0"/>
          </a:p>
        </p:txBody>
      </p:sp>
      <p:sp>
        <p:nvSpPr>
          <p:cNvPr id="9" name="Text 7"/>
          <p:cNvSpPr/>
          <p:nvPr/>
        </p:nvSpPr>
        <p:spPr>
          <a:xfrm>
            <a:off x="741640" y="6337459"/>
            <a:ext cx="6353889" cy="864394"/>
          </a:xfrm>
          <a:prstGeom prst="rect">
            <a:avLst/>
          </a:prstGeom>
          <a:noFill/>
          <a:ln/>
        </p:spPr>
        <p:txBody>
          <a:bodyPr wrap="squar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Researchers won't use black-box systems. The interactive graph visualizations and confidence scores were essential for building trust and enabling real-world adoption of the system.</a:t>
            </a:r>
            <a:endParaRPr lang="en-US" sz="1400" dirty="0"/>
          </a:p>
        </p:txBody>
      </p:sp>
      <p:sp>
        <p:nvSpPr>
          <p:cNvPr id="10" name="Text 8"/>
          <p:cNvSpPr/>
          <p:nvPr/>
        </p:nvSpPr>
        <p:spPr>
          <a:xfrm>
            <a:off x="7542490" y="1878568"/>
            <a:ext cx="2990374" cy="337661"/>
          </a:xfrm>
          <a:prstGeom prst="rect">
            <a:avLst/>
          </a:prstGeom>
          <a:noFill/>
          <a:ln/>
        </p:spPr>
        <p:txBody>
          <a:bodyPr wrap="none" lIns="0" tIns="0" rIns="0" bIns="0" rtlCol="0" anchor="t"/>
          <a:lstStyle/>
          <a:p>
            <a:pPr algn="l" indent="0" marL="0">
              <a:lnSpc>
                <a:spcPts val="2650"/>
              </a:lnSpc>
              <a:buNone/>
            </a:pPr>
            <a:r>
              <a:rPr lang="en-US" sz="2100" dirty="0">
                <a:solidFill>
                  <a:srgbClr val="3A3A3A"/>
                </a:solidFill>
                <a:latin typeface="Noto Serif Medium" pitchFamily="34" charset="0"/>
                <a:ea typeface="Noto Serif Medium" pitchFamily="34" charset="-122"/>
                <a:cs typeface="Noto Serif Medium" pitchFamily="34" charset="-120"/>
              </a:rPr>
              <a:t>What I'd Improve Next</a:t>
            </a:r>
            <a:endParaRPr lang="en-US" sz="2100" dirty="0"/>
          </a:p>
        </p:txBody>
      </p:sp>
      <p:sp>
        <p:nvSpPr>
          <p:cNvPr id="11" name="Text 9"/>
          <p:cNvSpPr/>
          <p:nvPr/>
        </p:nvSpPr>
        <p:spPr>
          <a:xfrm>
            <a:off x="7542490" y="2396252"/>
            <a:ext cx="6353889" cy="288131"/>
          </a:xfrm>
          <a:prstGeom prst="rect">
            <a:avLst/>
          </a:prstGeom>
          <a:noFill/>
          <a:ln/>
        </p:spPr>
        <p:txBody>
          <a:bodyPr wrap="none" lIns="0" tIns="0" rIns="0" bIns="0" rtlCol="0" anchor="t"/>
          <a:lstStyle/>
          <a:p>
            <a:pPr algn="l" indent="0" marL="0">
              <a:lnSpc>
                <a:spcPts val="2250"/>
              </a:lnSpc>
              <a:buNone/>
            </a:pPr>
            <a:r>
              <a:rPr lang="en-US" sz="1400" dirty="0">
                <a:solidFill>
                  <a:srgbClr val="4C4C4C"/>
                </a:solidFill>
                <a:latin typeface="Noto Serif" pitchFamily="34" charset="0"/>
                <a:ea typeface="Noto Serif" pitchFamily="34" charset="-122"/>
                <a:cs typeface="Noto Serif" pitchFamily="34" charset="-120"/>
              </a:rPr>
              <a:t>If I continue this project, here's my priority list:</a:t>
            </a:r>
            <a:endParaRPr lang="en-US" sz="1400" dirty="0"/>
          </a:p>
        </p:txBody>
      </p:sp>
      <p:sp>
        <p:nvSpPr>
          <p:cNvPr id="12" name="Text 10"/>
          <p:cNvSpPr/>
          <p:nvPr/>
        </p:nvSpPr>
        <p:spPr>
          <a:xfrm>
            <a:off x="7542490" y="2846427"/>
            <a:ext cx="6353889" cy="576263"/>
          </a:xfrm>
          <a:prstGeom prst="rect">
            <a:avLst/>
          </a:prstGeom>
          <a:noFill/>
          <a:ln/>
        </p:spPr>
        <p:txBody>
          <a:bodyPr wrap="square" lIns="0" tIns="0" rIns="0" bIns="0" rtlCol="0" anchor="t"/>
          <a:lstStyle/>
          <a:p>
            <a:pPr algn="l" marL="342900" indent="-342900">
              <a:lnSpc>
                <a:spcPts val="2250"/>
              </a:lnSpc>
              <a:buSzPct val="100000"/>
              <a:buFont typeface="+mj-lt"/>
              <a:buAutoNum type="arabicPeriod" startAt="1"/>
            </a:pPr>
            <a:r>
              <a:rPr lang="en-US" sz="1400" dirty="0">
                <a:solidFill>
                  <a:srgbClr val="4C4C4C"/>
                </a:solidFill>
                <a:latin typeface="Noto Serif" pitchFamily="34" charset="0"/>
                <a:ea typeface="Noto Serif" pitchFamily="34" charset="-122"/>
                <a:cs typeface="Noto Serif" pitchFamily="34" charset="-120"/>
              </a:rPr>
              <a:t>Multi-label classification - Many papers span multiple fields (e.g., CV + ML)</a:t>
            </a:r>
            <a:endParaRPr lang="en-US" sz="1400" dirty="0"/>
          </a:p>
        </p:txBody>
      </p:sp>
      <p:sp>
        <p:nvSpPr>
          <p:cNvPr id="13" name="Text 11"/>
          <p:cNvSpPr/>
          <p:nvPr/>
        </p:nvSpPr>
        <p:spPr>
          <a:xfrm>
            <a:off x="7542490" y="3485674"/>
            <a:ext cx="6353889" cy="576263"/>
          </a:xfrm>
          <a:prstGeom prst="rect">
            <a:avLst/>
          </a:prstGeom>
          <a:noFill/>
          <a:ln/>
        </p:spPr>
        <p:txBody>
          <a:bodyPr wrap="square" lIns="0" tIns="0" rIns="0" bIns="0" rtlCol="0" anchor="t"/>
          <a:lstStyle/>
          <a:p>
            <a:pPr algn="l" marL="342900" indent="-342900">
              <a:lnSpc>
                <a:spcPts val="2250"/>
              </a:lnSpc>
              <a:buSzPct val="100000"/>
              <a:buFont typeface="+mj-lt"/>
              <a:buAutoNum type="arabicPeriod" startAt="2"/>
            </a:pPr>
            <a:r>
              <a:rPr lang="en-US" sz="1400" dirty="0">
                <a:solidFill>
                  <a:srgbClr val="4C4C4C"/>
                </a:solidFill>
                <a:latin typeface="Noto Serif" pitchFamily="34" charset="0"/>
                <a:ea typeface="Noto Serif" pitchFamily="34" charset="-122"/>
                <a:cs typeface="Noto Serif" pitchFamily="34" charset="-120"/>
              </a:rPr>
              <a:t>Better text features - Replace TF-IDF with SciBERT embeddings for richer semantic understanding</a:t>
            </a:r>
            <a:endParaRPr lang="en-US" sz="1400" dirty="0"/>
          </a:p>
        </p:txBody>
      </p:sp>
      <p:sp>
        <p:nvSpPr>
          <p:cNvPr id="14" name="Text 12"/>
          <p:cNvSpPr/>
          <p:nvPr/>
        </p:nvSpPr>
        <p:spPr>
          <a:xfrm>
            <a:off x="7542490" y="4124920"/>
            <a:ext cx="6353889" cy="576263"/>
          </a:xfrm>
          <a:prstGeom prst="rect">
            <a:avLst/>
          </a:prstGeom>
          <a:noFill/>
          <a:ln/>
        </p:spPr>
        <p:txBody>
          <a:bodyPr wrap="square" lIns="0" tIns="0" rIns="0" bIns="0" rtlCol="0" anchor="t"/>
          <a:lstStyle/>
          <a:p>
            <a:pPr algn="l" marL="342900" indent="-342900">
              <a:lnSpc>
                <a:spcPts val="2250"/>
              </a:lnSpc>
              <a:buSzPct val="100000"/>
              <a:buFont typeface="+mj-lt"/>
              <a:buAutoNum type="arabicPeriod" startAt="3"/>
            </a:pPr>
            <a:r>
              <a:rPr lang="en-US" sz="1400" dirty="0">
                <a:solidFill>
                  <a:srgbClr val="4C4C4C"/>
                </a:solidFill>
                <a:latin typeface="Noto Serif" pitchFamily="34" charset="0"/>
                <a:ea typeface="Noto Serif" pitchFamily="34" charset="-122"/>
                <a:cs typeface="Noto Serif" pitchFamily="34" charset="-120"/>
              </a:rPr>
              <a:t>Temporal analysis - Track how a paper's influence and citations evolve over time</a:t>
            </a:r>
            <a:endParaRPr lang="en-US" sz="1400" dirty="0"/>
          </a:p>
        </p:txBody>
      </p:sp>
      <p:sp>
        <p:nvSpPr>
          <p:cNvPr id="15" name="Text 13"/>
          <p:cNvSpPr/>
          <p:nvPr/>
        </p:nvSpPr>
        <p:spPr>
          <a:xfrm>
            <a:off x="7542490" y="4764167"/>
            <a:ext cx="6353889" cy="576263"/>
          </a:xfrm>
          <a:prstGeom prst="rect">
            <a:avLst/>
          </a:prstGeom>
          <a:noFill/>
          <a:ln/>
        </p:spPr>
        <p:txBody>
          <a:bodyPr wrap="square" lIns="0" tIns="0" rIns="0" bIns="0" rtlCol="0" anchor="t"/>
          <a:lstStyle/>
          <a:p>
            <a:pPr algn="l" marL="342900" indent="-342900">
              <a:lnSpc>
                <a:spcPts val="2250"/>
              </a:lnSpc>
              <a:buSzPct val="100000"/>
              <a:buFont typeface="+mj-lt"/>
              <a:buAutoNum type="arabicPeriod" startAt="4"/>
            </a:pPr>
            <a:r>
              <a:rPr lang="en-US" sz="1400" dirty="0">
                <a:solidFill>
                  <a:srgbClr val="4C4C4C"/>
                </a:solidFill>
                <a:latin typeface="Noto Serif" pitchFamily="34" charset="0"/>
                <a:ea typeface="Noto Serif" pitchFamily="34" charset="-122"/>
                <a:cs typeface="Noto Serif" pitchFamily="34" charset="-120"/>
              </a:rPr>
              <a:t>Production API - Build a REST API so other research tools can integrate with Research Compass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15490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Key Takeaways</a:t>
            </a:r>
            <a:endParaRPr lang="en-US" sz="4450" dirty="0"/>
          </a:p>
        </p:txBody>
      </p:sp>
      <p:sp>
        <p:nvSpPr>
          <p:cNvPr id="3" name="Text 1"/>
          <p:cNvSpPr/>
          <p:nvPr/>
        </p:nvSpPr>
        <p:spPr>
          <a:xfrm>
            <a:off x="793790" y="2317313"/>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4C4C4C"/>
                </a:solidFill>
                <a:latin typeface="Noto Serif" pitchFamily="34" charset="0"/>
                <a:ea typeface="Noto Serif" pitchFamily="34" charset="-122"/>
                <a:cs typeface="Noto Serif" pitchFamily="34" charset="-120"/>
              </a:rPr>
              <a:t>Lesson 1: Data Quality &gt; Model Complexity</a:t>
            </a:r>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Clean your data first. On OGB arXiv, all three models performed similarly because the dataset was well-curated.</a:t>
            </a:r>
            <a:endParaRPr lang="en-US" sz="1750" dirty="0"/>
          </a:p>
        </p:txBody>
      </p:sp>
      <p:sp>
        <p:nvSpPr>
          <p:cNvPr id="4" name="Text 2"/>
          <p:cNvSpPr/>
          <p:nvPr/>
        </p:nvSpPr>
        <p:spPr>
          <a:xfrm>
            <a:off x="793790" y="3298269"/>
            <a:ext cx="13042821" cy="1088708"/>
          </a:xfrm>
          <a:prstGeom prst="rect">
            <a:avLst/>
          </a:prstGeom>
          <a:noFill/>
          <a:ln/>
        </p:spPr>
        <p:txBody>
          <a:bodyPr wrap="square" lIns="0" tIns="0" rIns="0" bIns="0" rtlCol="0" anchor="t"/>
          <a:lstStyle/>
          <a:p>
            <a:pPr algn="l" indent="0" marL="0">
              <a:lnSpc>
                <a:spcPts val="2850"/>
              </a:lnSpc>
              <a:buNone/>
            </a:pPr>
            <a:r>
              <a:rPr lang="en-US" sz="1750" b="1" dirty="0">
                <a:solidFill>
                  <a:srgbClr val="4C4C4C"/>
                </a:solidFill>
                <a:latin typeface="Noto Serif" pitchFamily="34" charset="0"/>
                <a:ea typeface="Noto Serif" pitchFamily="34" charset="-122"/>
                <a:cs typeface="Noto Serif" pitchFamily="34" charset="-120"/>
              </a:rPr>
              <a:t>Lesson 2: Real-World Data is Humbling</a:t>
            </a:r>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My assumptions about which models would work best were completely wrong. Sometimes the simpler approach (GraphSAGE sampling) beats the fancier one (GAT attention).</a:t>
            </a:r>
            <a:endParaRPr lang="en-US" sz="1750" dirty="0"/>
          </a:p>
        </p:txBody>
      </p:sp>
      <p:sp>
        <p:nvSpPr>
          <p:cNvPr id="5" name="Text 3"/>
          <p:cNvSpPr/>
          <p:nvPr/>
        </p:nvSpPr>
        <p:spPr>
          <a:xfrm>
            <a:off x="793790" y="4642128"/>
            <a:ext cx="13042821" cy="1088708"/>
          </a:xfrm>
          <a:prstGeom prst="rect">
            <a:avLst/>
          </a:prstGeom>
          <a:noFill/>
          <a:ln/>
        </p:spPr>
        <p:txBody>
          <a:bodyPr wrap="square" lIns="0" tIns="0" rIns="0" bIns="0" rtlCol="0" anchor="t"/>
          <a:lstStyle/>
          <a:p>
            <a:pPr algn="l" indent="0" marL="0">
              <a:lnSpc>
                <a:spcPts val="2850"/>
              </a:lnSpc>
              <a:buNone/>
            </a:pPr>
            <a:r>
              <a:rPr lang="en-US" sz="1750" b="1" dirty="0">
                <a:solidFill>
                  <a:srgbClr val="4C4C4C"/>
                </a:solidFill>
                <a:latin typeface="Noto Serif" pitchFamily="34" charset="0"/>
                <a:ea typeface="Noto Serif" pitchFamily="34" charset="-122"/>
                <a:cs typeface="Noto Serif" pitchFamily="34" charset="-120"/>
              </a:rPr>
              <a:t>Lesson 3: Explainability Matters</a:t>
            </a:r>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Building visualization features took extra time but made the system actually useful. Without them, it would just be another black box.</a:t>
            </a:r>
            <a:endParaRPr lang="en-US" sz="1750" dirty="0"/>
          </a:p>
        </p:txBody>
      </p:sp>
      <p:sp>
        <p:nvSpPr>
          <p:cNvPr id="6" name="Text 4"/>
          <p:cNvSpPr/>
          <p:nvPr/>
        </p:nvSpPr>
        <p:spPr>
          <a:xfrm>
            <a:off x="793790" y="5985986"/>
            <a:ext cx="13042821" cy="1088708"/>
          </a:xfrm>
          <a:prstGeom prst="rect">
            <a:avLst/>
          </a:prstGeom>
          <a:noFill/>
          <a:ln/>
        </p:spPr>
        <p:txBody>
          <a:bodyPr wrap="square" lIns="0" tIns="0" rIns="0" bIns="0" rtlCol="0" anchor="t"/>
          <a:lstStyle/>
          <a:p>
            <a:pPr algn="l" indent="0" marL="0">
              <a:lnSpc>
                <a:spcPts val="2850"/>
              </a:lnSpc>
              <a:buNone/>
            </a:pPr>
            <a:r>
              <a:rPr lang="en-US" sz="1750" b="1" dirty="0">
                <a:solidFill>
                  <a:srgbClr val="4C4C4C"/>
                </a:solidFill>
                <a:latin typeface="Noto Serif" pitchFamily="34" charset="0"/>
                <a:ea typeface="Noto Serif" pitchFamily="34" charset="-122"/>
                <a:cs typeface="Noto Serif" pitchFamily="34" charset="-120"/>
              </a:rPr>
              <a:t>The Bottom Line</a:t>
            </a:r>
            <a:pPr algn="l" indent="0" marL="0">
              <a:lnSpc>
                <a:spcPts val="2850"/>
              </a:lnSpc>
              <a:buNone/>
            </a:pPr>
            <a:r>
              <a:rPr lang="en-US" sz="1750" dirty="0">
                <a:solidFill>
                  <a:srgbClr val="4C4C4C"/>
                </a:solidFill>
                <a:latin typeface="Noto Serif" pitchFamily="34" charset="0"/>
                <a:ea typeface="Noto Serif" pitchFamily="34" charset="-122"/>
                <a:cs typeface="Noto Serif" pitchFamily="34" charset="-120"/>
              </a:rPr>
              <a:t>GNNs aren't just for research papers - they're practical tools for real applications when you handle the engineering challenges properly.</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21400"/>
            <a:ext cx="4252913" cy="531614"/>
          </a:xfrm>
          <a:prstGeom prst="rect">
            <a:avLst/>
          </a:prstGeom>
          <a:noFill/>
          <a:ln/>
        </p:spPr>
        <p:txBody>
          <a:bodyPr wrap="none" lIns="0" tIns="0" rIns="0" bIns="0" rtlCol="0" anchor="t"/>
          <a:lstStyle/>
          <a:p>
            <a:pPr algn="l" indent="0" marL="0">
              <a:lnSpc>
                <a:spcPts val="4150"/>
              </a:lnSpc>
              <a:buNone/>
            </a:pPr>
            <a:r>
              <a:rPr lang="en-US" sz="3300" dirty="0">
                <a:solidFill>
                  <a:srgbClr val="3A3A3A"/>
                </a:solidFill>
                <a:latin typeface="Noto Serif Medium" pitchFamily="34" charset="0"/>
                <a:ea typeface="Noto Serif Medium" pitchFamily="34" charset="-122"/>
                <a:cs typeface="Noto Serif Medium" pitchFamily="34" charset="-120"/>
              </a:rPr>
              <a:t>Final Thoughts</a:t>
            </a:r>
            <a:endParaRPr lang="en-US" sz="3300" dirty="0"/>
          </a:p>
        </p:txBody>
      </p:sp>
      <p:sp>
        <p:nvSpPr>
          <p:cNvPr id="3" name="Text 1"/>
          <p:cNvSpPr/>
          <p:nvPr/>
        </p:nvSpPr>
        <p:spPr>
          <a:xfrm>
            <a:off x="793790" y="1320998"/>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What I Built</a:t>
            </a:r>
            <a:endParaRPr lang="en-US" sz="2000" dirty="0"/>
          </a:p>
        </p:txBody>
      </p:sp>
      <p:sp>
        <p:nvSpPr>
          <p:cNvPr id="4" name="Text 2"/>
          <p:cNvSpPr/>
          <p:nvPr/>
        </p:nvSpPr>
        <p:spPr>
          <a:xfrm>
            <a:off x="793790" y="1894999"/>
            <a:ext cx="13042821" cy="544354"/>
          </a:xfrm>
          <a:prstGeom prst="rect">
            <a:avLst/>
          </a:prstGeom>
          <a:noFill/>
          <a:ln/>
        </p:spPr>
        <p:txBody>
          <a:bodyPr wrap="squar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A Graph Neural Network system that classifies research papers by learning from citation patterns. Achieved 71% accuracy on real-world data (AMiner) using GraphSAGE.</a:t>
            </a:r>
            <a:endParaRPr lang="en-US" sz="1300" dirty="0"/>
          </a:p>
        </p:txBody>
      </p:sp>
      <p:sp>
        <p:nvSpPr>
          <p:cNvPr id="5" name="Text 3"/>
          <p:cNvSpPr/>
          <p:nvPr/>
        </p:nvSpPr>
        <p:spPr>
          <a:xfrm>
            <a:off x="793790" y="2694503"/>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What Worked</a:t>
            </a:r>
            <a:endParaRPr lang="en-US" sz="2000" dirty="0"/>
          </a:p>
        </p:txBody>
      </p:sp>
      <p:sp>
        <p:nvSpPr>
          <p:cNvPr id="6" name="Text 4"/>
          <p:cNvSpPr/>
          <p:nvPr/>
        </p:nvSpPr>
        <p:spPr>
          <a:xfrm>
            <a:off x="793790" y="3268504"/>
            <a:ext cx="13042821"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C4C4C"/>
                </a:solidFill>
                <a:latin typeface="Noto Serif" pitchFamily="34" charset="0"/>
                <a:ea typeface="Noto Serif" pitchFamily="34" charset="-122"/>
                <a:cs typeface="Noto Serif" pitchFamily="34" charset="-120"/>
              </a:rPr>
              <a:t>GraphSAGE dramatically outperformed other GNNs on messy real-world data</a:t>
            </a:r>
            <a:endParaRPr lang="en-US" sz="1300" dirty="0"/>
          </a:p>
        </p:txBody>
      </p:sp>
      <p:sp>
        <p:nvSpPr>
          <p:cNvPr id="7" name="Text 5"/>
          <p:cNvSpPr/>
          <p:nvPr/>
        </p:nvSpPr>
        <p:spPr>
          <a:xfrm>
            <a:off x="793790" y="3600212"/>
            <a:ext cx="13042821"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C4C4C"/>
                </a:solidFill>
                <a:latin typeface="Noto Serif" pitchFamily="34" charset="0"/>
                <a:ea typeface="Noto Serif" pitchFamily="34" charset="-122"/>
                <a:cs typeface="Noto Serif" pitchFamily="34" charset="-120"/>
              </a:rPr>
              <a:t>K-NN graph construction enables predictions on papers without real citations</a:t>
            </a:r>
            <a:endParaRPr lang="en-US" sz="1300" dirty="0"/>
          </a:p>
        </p:txBody>
      </p:sp>
      <p:sp>
        <p:nvSpPr>
          <p:cNvPr id="8" name="Text 6"/>
          <p:cNvSpPr/>
          <p:nvPr/>
        </p:nvSpPr>
        <p:spPr>
          <a:xfrm>
            <a:off x="793790" y="3931920"/>
            <a:ext cx="13042821"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C4C4C"/>
                </a:solidFill>
                <a:latin typeface="Noto Serif" pitchFamily="34" charset="0"/>
                <a:ea typeface="Noto Serif" pitchFamily="34" charset="-122"/>
                <a:cs typeface="Noto Serif" pitchFamily="34" charset="-120"/>
              </a:rPr>
              <a:t>Transparency features (confidence scores, graph visualization) make the system trustworthy</a:t>
            </a:r>
            <a:endParaRPr lang="en-US" sz="1300" dirty="0"/>
          </a:p>
        </p:txBody>
      </p:sp>
      <p:sp>
        <p:nvSpPr>
          <p:cNvPr id="9" name="Text 7"/>
          <p:cNvSpPr/>
          <p:nvPr/>
        </p:nvSpPr>
        <p:spPr>
          <a:xfrm>
            <a:off x="793790" y="4263628"/>
            <a:ext cx="13042821"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C4C4C"/>
                </a:solidFill>
                <a:latin typeface="Noto Serif" pitchFamily="34" charset="0"/>
                <a:ea typeface="Noto Serif" pitchFamily="34" charset="-122"/>
                <a:cs typeface="Noto Serif" pitchFamily="34" charset="-120"/>
              </a:rPr>
              <a:t>End-to-end deployment on Streamlit proved GNNs can work in production</a:t>
            </a:r>
            <a:endParaRPr lang="en-US" sz="1300" dirty="0"/>
          </a:p>
        </p:txBody>
      </p:sp>
      <p:sp>
        <p:nvSpPr>
          <p:cNvPr id="10" name="Text 8"/>
          <p:cNvSpPr/>
          <p:nvPr/>
        </p:nvSpPr>
        <p:spPr>
          <a:xfrm>
            <a:off x="793790" y="4790956"/>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What I Proved</a:t>
            </a:r>
            <a:endParaRPr lang="en-US" sz="2000" dirty="0"/>
          </a:p>
        </p:txBody>
      </p:sp>
      <p:sp>
        <p:nvSpPr>
          <p:cNvPr id="11" name="Text 9"/>
          <p:cNvSpPr/>
          <p:nvPr/>
        </p:nvSpPr>
        <p:spPr>
          <a:xfrm>
            <a:off x="793790" y="5364956"/>
            <a:ext cx="13042821" cy="272177"/>
          </a:xfrm>
          <a:prstGeom prst="rect">
            <a:avLst/>
          </a:prstGeom>
          <a:noFill/>
          <a:ln/>
        </p:spPr>
        <p:txBody>
          <a:bodyPr wrap="none" lIns="0" tIns="0" rIns="0" bIns="0" rtlCol="0" anchor="t"/>
          <a:lstStyle/>
          <a:p>
            <a:pPr algn="l" indent="0" marL="0">
              <a:lnSpc>
                <a:spcPts val="2100"/>
              </a:lnSpc>
              <a:buNone/>
            </a:pPr>
            <a:r>
              <a:rPr lang="en-US" sz="1300" dirty="0">
                <a:solidFill>
                  <a:srgbClr val="4C4C4C"/>
                </a:solidFill>
                <a:latin typeface="Noto Serif" pitchFamily="34" charset="0"/>
                <a:ea typeface="Noto Serif" pitchFamily="34" charset="-122"/>
                <a:cs typeface="Noto Serif" pitchFamily="34" charset="-120"/>
              </a:rPr>
              <a:t>GNNs aren't just for research papers - they're practical tools for real applications when you handle the engineering challenges properly.</a:t>
            </a:r>
            <a:endParaRPr lang="en-US" sz="1300" dirty="0"/>
          </a:p>
        </p:txBody>
      </p:sp>
      <p:sp>
        <p:nvSpPr>
          <p:cNvPr id="12" name="Text 10"/>
          <p:cNvSpPr/>
          <p:nvPr/>
        </p:nvSpPr>
        <p:spPr>
          <a:xfrm>
            <a:off x="793790" y="5892284"/>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Try It Yourself</a:t>
            </a:r>
            <a:endParaRPr lang="en-US" sz="2000" dirty="0"/>
          </a:p>
        </p:txBody>
      </p:sp>
      <p:pic>
        <p:nvPicPr>
          <p:cNvPr id="13" name="Image 0" descr="preencoded.png">
            <a:hlinkClick r:id="rId2" tooltip=""/>
          </p:cNvPr>
          <p:cNvPicPr>
            <a:picLocks noChangeAspect="1"/>
          </p:cNvPicPr>
          <p:nvPr/>
        </p:nvPicPr>
        <p:blipFill>
          <a:blip r:embed="rId1"/>
          <a:stretch>
            <a:fillRect/>
          </a:stretch>
        </p:blipFill>
        <p:spPr>
          <a:xfrm>
            <a:off x="793790" y="6466284"/>
            <a:ext cx="1889046" cy="467797"/>
          </a:xfrm>
          <a:prstGeom prst="rect">
            <a:avLst/>
          </a:prstGeom>
        </p:spPr>
      </p:pic>
      <p:sp>
        <p:nvSpPr>
          <p:cNvPr id="14" name="Text 11"/>
          <p:cNvSpPr/>
          <p:nvPr/>
        </p:nvSpPr>
        <p:spPr>
          <a:xfrm>
            <a:off x="793790" y="718923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A3A3A"/>
                </a:solidFill>
                <a:latin typeface="Noto Serif Medium" pitchFamily="34" charset="0"/>
                <a:ea typeface="Noto Serif Medium" pitchFamily="34" charset="-122"/>
                <a:cs typeface="Noto Serif Medium"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2025-12-02T13:19:57Z</dcterms:created>
  <dcterms:modified xsi:type="dcterms:W3CDTF">2025-12-02T13:19:57Z</dcterms:modified>
</cp:coreProperties>
</file>